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y="10287000" cx="18288000"/>
  <p:notesSz cx="6858000" cy="9144000"/>
  <p:embeddedFontLst>
    <p:embeddedFont>
      <p:font typeface="Roboto"/>
      <p:regular r:id="rId15"/>
      <p:bold r:id="rId16"/>
      <p:italic r:id="rId17"/>
      <p:boldItalic r:id="rId18"/>
    </p:embeddedFont>
    <p:embeddedFont>
      <p:font typeface="VT323"/>
      <p:regular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E3AD02C6-73F4-4E86-B738-824DFAA2CBF0}">
  <a:tblStyle styleId="{E3AD02C6-73F4-4E86-B738-824DFAA2CBF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font" Target="fonts/Roboto-regular.fntdata"/><Relationship Id="rId14" Type="http://schemas.openxmlformats.org/officeDocument/2006/relationships/slide" Target="slides/slide8.xml"/><Relationship Id="rId17" Type="http://schemas.openxmlformats.org/officeDocument/2006/relationships/font" Target="fonts/Roboto-italic.fntdata"/><Relationship Id="rId16" Type="http://schemas.openxmlformats.org/officeDocument/2006/relationships/font" Target="fonts/Roboto-bold.fntdata"/><Relationship Id="rId5" Type="http://schemas.openxmlformats.org/officeDocument/2006/relationships/slideMaster" Target="slideMasters/slideMaster1.xml"/><Relationship Id="rId19" Type="http://schemas.openxmlformats.org/officeDocument/2006/relationships/font" Target="fonts/VT323-regular.fntdata"/><Relationship Id="rId6" Type="http://schemas.openxmlformats.org/officeDocument/2006/relationships/notesMaster" Target="notesMasters/notesMaster1.xml"/><Relationship Id="rId18" Type="http://schemas.openxmlformats.org/officeDocument/2006/relationships/font" Target="fonts/Roboto-bold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Relationship Id="rId4" Type="http://schemas.openxmlformats.org/officeDocument/2006/relationships/image" Target="../media/image4.png"/><Relationship Id="rId5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5" name="Google Shape;85;p13"/>
          <p:cNvSpPr/>
          <p:nvPr/>
        </p:nvSpPr>
        <p:spPr>
          <a:xfrm>
            <a:off x="1711434" y="7389269"/>
            <a:ext cx="1440883" cy="1440883"/>
          </a:xfrm>
          <a:custGeom>
            <a:rect b="b" l="l" r="r" t="t"/>
            <a:pathLst>
              <a:path extrusionOk="0" h="1440883" w="1440883">
                <a:moveTo>
                  <a:pt x="0" y="0"/>
                </a:moveTo>
                <a:lnTo>
                  <a:pt x="1440883" y="0"/>
                </a:lnTo>
                <a:lnTo>
                  <a:pt x="1440883" y="1440883"/>
                </a:lnTo>
                <a:lnTo>
                  <a:pt x="0" y="144088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19999"/>
            </a:blip>
            <a:stretch>
              <a:fillRect b="-1691" l="0" r="0" t="-1691"/>
            </a:stretch>
          </a:blipFill>
          <a:ln>
            <a:noFill/>
          </a:ln>
        </p:spPr>
      </p:sp>
      <p:sp>
        <p:nvSpPr>
          <p:cNvPr id="86" name="Google Shape;86;p13"/>
          <p:cNvSpPr txBox="1"/>
          <p:nvPr/>
        </p:nvSpPr>
        <p:spPr>
          <a:xfrm>
            <a:off x="1230474" y="4152582"/>
            <a:ext cx="13567200" cy="81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9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318" u="none" cap="none" strike="noStrike">
                <a:solidFill>
                  <a:srgbClr val="FFFFFF"/>
                </a:solidFill>
                <a:latin typeface="VT323"/>
                <a:ea typeface="VT323"/>
                <a:cs typeface="VT323"/>
                <a:sym typeface="VT323"/>
              </a:rPr>
              <a:t>TEAM NAME : SYNAPSE_GTB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1230352" y="5246347"/>
            <a:ext cx="13567200" cy="633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67681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5300">
                <a:solidFill>
                  <a:srgbClr val="FFFFFF"/>
                </a:solidFill>
                <a:latin typeface="VT323"/>
                <a:ea typeface="VT323"/>
                <a:cs typeface="VT323"/>
                <a:sym typeface="VT323"/>
              </a:rPr>
              <a:t>DOMAIN : Healthcare Track</a:t>
            </a:r>
            <a:endParaRPr sz="5300">
              <a:solidFill>
                <a:srgbClr val="FFFFFF"/>
              </a:solidFill>
              <a:latin typeface="VT323"/>
              <a:ea typeface="VT323"/>
              <a:cs typeface="VT323"/>
              <a:sym typeface="VT323"/>
            </a:endParaRPr>
          </a:p>
          <a:p>
            <a:pPr indent="0" lvl="0" marL="0" marR="0" rtl="0" algn="l">
              <a:lnSpc>
                <a:spcPct val="13999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318" u="none" cap="none" strike="noStrike">
                <a:solidFill>
                  <a:srgbClr val="FFFFFF"/>
                </a:solidFill>
                <a:latin typeface="VT323"/>
                <a:ea typeface="VT323"/>
                <a:cs typeface="VT323"/>
                <a:sym typeface="VT323"/>
              </a:rPr>
              <a:t>DOMAIN :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1230340" y="6341969"/>
            <a:ext cx="13298700" cy="196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9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300">
                <a:solidFill>
                  <a:srgbClr val="FFFFFF"/>
                </a:solidFill>
                <a:latin typeface="VT323"/>
                <a:ea typeface="VT323"/>
                <a:cs typeface="VT323"/>
                <a:sym typeface="VT323"/>
              </a:rPr>
              <a:t>CATEGORY : AI/ML-powered Web Application</a:t>
            </a:r>
            <a:endParaRPr sz="5300">
              <a:solidFill>
                <a:srgbClr val="FFFFFF"/>
              </a:solidFill>
              <a:latin typeface="VT323"/>
              <a:ea typeface="VT323"/>
              <a:cs typeface="VT323"/>
              <a:sym typeface="VT323"/>
            </a:endParaRPr>
          </a:p>
          <a:p>
            <a:pPr indent="0" lvl="0" marL="0" marR="0" rtl="0" algn="l">
              <a:lnSpc>
                <a:spcPct val="13999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318">
              <a:solidFill>
                <a:srgbClr val="FFFFFF"/>
              </a:solidFill>
              <a:latin typeface="VT323"/>
              <a:ea typeface="VT323"/>
              <a:cs typeface="VT323"/>
              <a:sym typeface="VT323"/>
            </a:endParaRPr>
          </a:p>
        </p:txBody>
      </p:sp>
      <p:sp>
        <p:nvSpPr>
          <p:cNvPr id="89" name="Google Shape;89;p13"/>
          <p:cNvSpPr txBox="1"/>
          <p:nvPr/>
        </p:nvSpPr>
        <p:spPr>
          <a:xfrm>
            <a:off x="1230350" y="7437594"/>
            <a:ext cx="13567200" cy="196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9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318" u="none" cap="none" strike="noStrike">
                <a:solidFill>
                  <a:srgbClr val="FFFFFF"/>
                </a:solidFill>
                <a:latin typeface="VT323"/>
                <a:ea typeface="VT323"/>
                <a:cs typeface="VT323"/>
                <a:sym typeface="VT323"/>
              </a:rPr>
              <a:t>P</a:t>
            </a:r>
            <a:r>
              <a:rPr lang="en-US" sz="5300">
                <a:solidFill>
                  <a:srgbClr val="FFFFFF"/>
                </a:solidFill>
                <a:latin typeface="VT323"/>
                <a:ea typeface="VT323"/>
                <a:cs typeface="VT323"/>
                <a:sym typeface="VT323"/>
              </a:rPr>
              <a:t>ROJECT TITLE : Project Chronos</a:t>
            </a:r>
            <a:endParaRPr sz="5300">
              <a:solidFill>
                <a:srgbClr val="FFFFFF"/>
              </a:solidFill>
              <a:latin typeface="VT323"/>
              <a:ea typeface="VT323"/>
              <a:cs typeface="VT323"/>
              <a:sym typeface="VT323"/>
            </a:endParaRPr>
          </a:p>
          <a:p>
            <a:pPr indent="0" lvl="0" marL="0" marR="0" rtl="0" algn="l">
              <a:lnSpc>
                <a:spcPct val="13999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318">
              <a:solidFill>
                <a:srgbClr val="FFFFFF"/>
              </a:solidFill>
              <a:latin typeface="VT323"/>
              <a:ea typeface="VT323"/>
              <a:cs typeface="VT323"/>
              <a:sym typeface="VT323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4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5" name="Google Shape;95;p14"/>
          <p:cNvSpPr txBox="1"/>
          <p:nvPr/>
        </p:nvSpPr>
        <p:spPr>
          <a:xfrm>
            <a:off x="137150" y="1762375"/>
            <a:ext cx="5117100" cy="83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600" u="sng">
                <a:solidFill>
                  <a:schemeClr val="lt1"/>
                </a:solidFill>
                <a:latin typeface="VT323"/>
                <a:ea typeface="VT323"/>
                <a:cs typeface="VT323"/>
                <a:sym typeface="VT323"/>
              </a:rPr>
              <a:t>User Pain Points</a:t>
            </a:r>
            <a:endParaRPr b="1" sz="2600" u="sng">
              <a:solidFill>
                <a:schemeClr val="lt1"/>
              </a:solidFill>
              <a:latin typeface="VT323"/>
              <a:ea typeface="VT323"/>
              <a:cs typeface="VT323"/>
              <a:sym typeface="VT323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600">
                <a:solidFill>
                  <a:schemeClr val="lt1"/>
                </a:solidFill>
                <a:latin typeface="VT323"/>
                <a:ea typeface="VT323"/>
                <a:cs typeface="VT323"/>
                <a:sym typeface="VT323"/>
              </a:rPr>
              <a:t>Hospitals generate massive amounts of physiological data (vital signs, labs, diagnoses), but most monitoring systems only </a:t>
            </a:r>
            <a:r>
              <a:rPr b="1" lang="en-US" sz="2600">
                <a:solidFill>
                  <a:schemeClr val="lt1"/>
                </a:solidFill>
                <a:latin typeface="VT323"/>
                <a:ea typeface="VT323"/>
                <a:cs typeface="VT323"/>
                <a:sym typeface="VT323"/>
              </a:rPr>
              <a:t>alert clinicians after a critical threshold is crossed</a:t>
            </a:r>
            <a:r>
              <a:rPr lang="en-US" sz="2600">
                <a:solidFill>
                  <a:schemeClr val="lt1"/>
                </a:solidFill>
                <a:latin typeface="VT323"/>
                <a:ea typeface="VT323"/>
                <a:cs typeface="VT323"/>
                <a:sym typeface="VT323"/>
              </a:rPr>
              <a:t>.</a:t>
            </a:r>
            <a:endParaRPr sz="2600">
              <a:solidFill>
                <a:schemeClr val="lt1"/>
              </a:solidFill>
              <a:latin typeface="VT323"/>
              <a:ea typeface="VT323"/>
              <a:cs typeface="VT323"/>
              <a:sym typeface="VT323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600">
                <a:solidFill>
                  <a:schemeClr val="lt1"/>
                </a:solidFill>
                <a:latin typeface="VT323"/>
                <a:ea typeface="VT323"/>
                <a:cs typeface="VT323"/>
                <a:sym typeface="VT323"/>
              </a:rPr>
              <a:t>Doctors often experience:</a:t>
            </a:r>
            <a:endParaRPr sz="2600">
              <a:solidFill>
                <a:schemeClr val="lt1"/>
              </a:solidFill>
              <a:latin typeface="VT323"/>
              <a:ea typeface="VT323"/>
              <a:cs typeface="VT323"/>
              <a:sym typeface="VT323"/>
            </a:endParaRPr>
          </a:p>
          <a:p>
            <a:pPr indent="-3937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2600"/>
              <a:buChar char="●"/>
            </a:pPr>
            <a:r>
              <a:rPr b="1" lang="en-US" sz="2600">
                <a:solidFill>
                  <a:schemeClr val="lt1"/>
                </a:solidFill>
                <a:latin typeface="VT323"/>
                <a:ea typeface="VT323"/>
                <a:cs typeface="VT323"/>
                <a:sym typeface="VT323"/>
              </a:rPr>
              <a:t>Alarm fatigue</a:t>
            </a:r>
            <a:r>
              <a:rPr lang="en-US" sz="2600">
                <a:solidFill>
                  <a:schemeClr val="lt1"/>
                </a:solidFill>
                <a:latin typeface="VT323"/>
                <a:ea typeface="VT323"/>
                <a:cs typeface="VT323"/>
                <a:sym typeface="VT323"/>
              </a:rPr>
              <a:t> from too many reactive alerts</a:t>
            </a:r>
            <a:endParaRPr sz="2600">
              <a:solidFill>
                <a:schemeClr val="lt1"/>
              </a:solidFill>
              <a:latin typeface="VT323"/>
              <a:ea typeface="VT323"/>
              <a:cs typeface="VT323"/>
              <a:sym typeface="VT323"/>
            </a:endParaRPr>
          </a:p>
          <a:p>
            <a:pPr indent="-3937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Char char="●"/>
            </a:pPr>
            <a:r>
              <a:rPr lang="en-US" sz="2600">
                <a:solidFill>
                  <a:schemeClr val="lt1"/>
                </a:solidFill>
                <a:latin typeface="VT323"/>
                <a:ea typeface="VT323"/>
                <a:cs typeface="VT323"/>
                <a:sym typeface="VT323"/>
              </a:rPr>
              <a:t>Difficulty identifying </a:t>
            </a:r>
            <a:r>
              <a:rPr b="1" lang="en-US" sz="2600">
                <a:solidFill>
                  <a:schemeClr val="lt1"/>
                </a:solidFill>
                <a:latin typeface="VT323"/>
                <a:ea typeface="VT323"/>
                <a:cs typeface="VT323"/>
                <a:sym typeface="VT323"/>
              </a:rPr>
              <a:t>subtle deterioration patterns</a:t>
            </a:r>
            <a:endParaRPr b="1" sz="2600">
              <a:solidFill>
                <a:schemeClr val="lt1"/>
              </a:solidFill>
              <a:latin typeface="VT323"/>
              <a:ea typeface="VT323"/>
              <a:cs typeface="VT323"/>
              <a:sym typeface="VT323"/>
            </a:endParaRPr>
          </a:p>
          <a:p>
            <a:pPr indent="-3937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Char char="●"/>
            </a:pPr>
            <a:r>
              <a:rPr lang="en-US" sz="2600">
                <a:solidFill>
                  <a:schemeClr val="lt1"/>
                </a:solidFill>
                <a:latin typeface="VT323"/>
                <a:ea typeface="VT323"/>
                <a:cs typeface="VT323"/>
                <a:sym typeface="VT323"/>
              </a:rPr>
              <a:t>Lack of </a:t>
            </a:r>
            <a:r>
              <a:rPr b="1" lang="en-US" sz="2600">
                <a:solidFill>
                  <a:schemeClr val="lt1"/>
                </a:solidFill>
                <a:latin typeface="VT323"/>
                <a:ea typeface="VT323"/>
                <a:cs typeface="VT323"/>
                <a:sym typeface="VT323"/>
              </a:rPr>
              <a:t>predictive insights</a:t>
            </a:r>
            <a:r>
              <a:rPr lang="en-US" sz="2600">
                <a:solidFill>
                  <a:schemeClr val="lt1"/>
                </a:solidFill>
                <a:latin typeface="VT323"/>
                <a:ea typeface="VT323"/>
                <a:cs typeface="VT323"/>
                <a:sym typeface="VT323"/>
              </a:rPr>
              <a:t> from continuous patient data</a:t>
            </a:r>
            <a:endParaRPr sz="2600">
              <a:solidFill>
                <a:schemeClr val="lt1"/>
              </a:solidFill>
              <a:latin typeface="VT323"/>
              <a:ea typeface="VT323"/>
              <a:cs typeface="VT323"/>
              <a:sym typeface="VT323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2600">
                <a:solidFill>
                  <a:schemeClr val="lt1"/>
                </a:solidFill>
                <a:latin typeface="VT323"/>
                <a:ea typeface="VT323"/>
                <a:cs typeface="VT323"/>
                <a:sym typeface="VT323"/>
              </a:rPr>
              <a:t>As a result, patient deterioration such as </a:t>
            </a:r>
            <a:r>
              <a:rPr b="1" lang="en-US" sz="2600">
                <a:solidFill>
                  <a:schemeClr val="lt1"/>
                </a:solidFill>
                <a:latin typeface="VT323"/>
                <a:ea typeface="VT323"/>
                <a:cs typeface="VT323"/>
                <a:sym typeface="VT323"/>
              </a:rPr>
              <a:t>sepsis, shock, or cardiac arrest</a:t>
            </a:r>
            <a:r>
              <a:rPr lang="en-US" sz="2600">
                <a:solidFill>
                  <a:schemeClr val="lt1"/>
                </a:solidFill>
                <a:latin typeface="VT323"/>
                <a:ea typeface="VT323"/>
                <a:cs typeface="VT323"/>
                <a:sym typeface="VT323"/>
              </a:rPr>
              <a:t> is often detected </a:t>
            </a:r>
            <a:r>
              <a:rPr b="1" lang="en-US" sz="2600">
                <a:solidFill>
                  <a:schemeClr val="lt1"/>
                </a:solidFill>
                <a:latin typeface="VT323"/>
                <a:ea typeface="VT323"/>
                <a:cs typeface="VT323"/>
                <a:sym typeface="VT323"/>
              </a:rPr>
              <a:t>too late</a:t>
            </a:r>
            <a:r>
              <a:rPr lang="en-US" sz="2600">
                <a:solidFill>
                  <a:schemeClr val="lt1"/>
                </a:solidFill>
                <a:latin typeface="VT323"/>
                <a:ea typeface="VT323"/>
                <a:cs typeface="VT323"/>
                <a:sym typeface="VT323"/>
              </a:rPr>
              <a:t>, reducing survival chances.</a:t>
            </a:r>
            <a:endParaRPr b="1" sz="2600">
              <a:solidFill>
                <a:schemeClr val="lt1"/>
              </a:solidFill>
              <a:latin typeface="VT323"/>
              <a:ea typeface="VT323"/>
              <a:cs typeface="VT323"/>
              <a:sym typeface="VT323"/>
            </a:endParaRPr>
          </a:p>
        </p:txBody>
      </p:sp>
      <p:sp>
        <p:nvSpPr>
          <p:cNvPr id="96" name="Google Shape;96;p14"/>
          <p:cNvSpPr txBox="1"/>
          <p:nvPr/>
        </p:nvSpPr>
        <p:spPr>
          <a:xfrm>
            <a:off x="1028700" y="238851"/>
            <a:ext cx="10706400" cy="120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929" u="none" cap="none" strike="noStrike">
                <a:solidFill>
                  <a:srgbClr val="D9D9D9"/>
                </a:solidFill>
                <a:latin typeface="VT323"/>
                <a:ea typeface="VT323"/>
                <a:cs typeface="VT323"/>
                <a:sym typeface="VT323"/>
              </a:rPr>
              <a:t>PROBLEM STATEMENT</a:t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5438900" y="1762375"/>
            <a:ext cx="6462300" cy="786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en-US" sz="2800" u="sng">
                <a:solidFill>
                  <a:schemeClr val="lt1"/>
                </a:solidFill>
                <a:latin typeface="VT323"/>
                <a:ea typeface="VT323"/>
                <a:cs typeface="VT323"/>
                <a:sym typeface="VT323"/>
              </a:rPr>
              <a:t>Technical / Operational Challenges</a:t>
            </a:r>
            <a:endParaRPr b="1" sz="2800" u="sng">
              <a:solidFill>
                <a:schemeClr val="lt1"/>
              </a:solidFill>
              <a:latin typeface="VT323"/>
              <a:ea typeface="VT323"/>
              <a:cs typeface="VT323"/>
              <a:sym typeface="VT323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lt1"/>
                </a:solidFill>
                <a:latin typeface="VT323"/>
                <a:ea typeface="VT323"/>
                <a:cs typeface="VT323"/>
                <a:sym typeface="VT323"/>
              </a:rPr>
              <a:t>Current systems face several limitations:</a:t>
            </a:r>
            <a:endParaRPr sz="2900">
              <a:solidFill>
                <a:schemeClr val="lt1"/>
              </a:solidFill>
              <a:latin typeface="VT323"/>
              <a:ea typeface="VT323"/>
              <a:cs typeface="VT323"/>
              <a:sym typeface="VT323"/>
            </a:endParaRPr>
          </a:p>
          <a:p>
            <a:pPr indent="-4064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VT323"/>
              <a:buAutoNum type="arabicPeriod"/>
            </a:pPr>
            <a:r>
              <a:rPr b="1" lang="en-US" sz="2800">
                <a:solidFill>
                  <a:schemeClr val="lt1"/>
                </a:solidFill>
                <a:latin typeface="VT323"/>
                <a:ea typeface="VT323"/>
                <a:cs typeface="VT323"/>
                <a:sym typeface="VT323"/>
              </a:rPr>
              <a:t>Reactive Monitoring</a:t>
            </a:r>
            <a:br>
              <a:rPr b="1" lang="en-US" sz="2800">
                <a:solidFill>
                  <a:schemeClr val="lt1"/>
                </a:solidFill>
                <a:latin typeface="VT323"/>
                <a:ea typeface="VT323"/>
                <a:cs typeface="VT323"/>
                <a:sym typeface="VT323"/>
              </a:rPr>
            </a:br>
            <a:r>
              <a:rPr lang="en-US" sz="2800">
                <a:solidFill>
                  <a:schemeClr val="lt1"/>
                </a:solidFill>
                <a:latin typeface="VT323"/>
                <a:ea typeface="VT323"/>
                <a:cs typeface="VT323"/>
                <a:sym typeface="VT323"/>
              </a:rPr>
              <a:t>Traditional monitors trigger alerts only when vitals exceed predefined thresholds.</a:t>
            </a:r>
            <a:endParaRPr sz="2800">
              <a:solidFill>
                <a:schemeClr val="lt1"/>
              </a:solidFill>
              <a:latin typeface="VT323"/>
              <a:ea typeface="VT323"/>
              <a:cs typeface="VT323"/>
              <a:sym typeface="VT323"/>
            </a:endParaRPr>
          </a:p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VT323"/>
              <a:buAutoNum type="arabicPeriod"/>
            </a:pPr>
            <a:r>
              <a:rPr b="1" lang="en-US" sz="2800">
                <a:solidFill>
                  <a:schemeClr val="lt1"/>
                </a:solidFill>
                <a:latin typeface="VT323"/>
                <a:ea typeface="VT323"/>
                <a:cs typeface="VT323"/>
                <a:sym typeface="VT323"/>
              </a:rPr>
              <a:t>Data Silos</a:t>
            </a:r>
            <a:br>
              <a:rPr b="1" lang="en-US" sz="2800">
                <a:solidFill>
                  <a:schemeClr val="lt1"/>
                </a:solidFill>
                <a:latin typeface="VT323"/>
                <a:ea typeface="VT323"/>
                <a:cs typeface="VT323"/>
                <a:sym typeface="VT323"/>
              </a:rPr>
            </a:br>
            <a:r>
              <a:rPr lang="en-US" sz="2800">
                <a:solidFill>
                  <a:schemeClr val="lt1"/>
                </a:solidFill>
                <a:latin typeface="VT323"/>
                <a:ea typeface="VT323"/>
                <a:cs typeface="VT323"/>
                <a:sym typeface="VT323"/>
              </a:rPr>
              <a:t>Patient data is distributed across multiple hospital systems.</a:t>
            </a:r>
            <a:endParaRPr sz="2800">
              <a:solidFill>
                <a:schemeClr val="lt1"/>
              </a:solidFill>
              <a:latin typeface="VT323"/>
              <a:ea typeface="VT323"/>
              <a:cs typeface="VT323"/>
              <a:sym typeface="VT323"/>
            </a:endParaRPr>
          </a:p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VT323"/>
              <a:buAutoNum type="arabicPeriod"/>
            </a:pPr>
            <a:r>
              <a:rPr b="1" lang="en-US" sz="2800">
                <a:solidFill>
                  <a:schemeClr val="lt1"/>
                </a:solidFill>
                <a:latin typeface="VT323"/>
                <a:ea typeface="VT323"/>
                <a:cs typeface="VT323"/>
                <a:sym typeface="VT323"/>
              </a:rPr>
              <a:t>Limited Predictive Intelligence</a:t>
            </a:r>
            <a:br>
              <a:rPr b="1" lang="en-US" sz="2800">
                <a:solidFill>
                  <a:schemeClr val="lt1"/>
                </a:solidFill>
                <a:latin typeface="VT323"/>
                <a:ea typeface="VT323"/>
                <a:cs typeface="VT323"/>
                <a:sym typeface="VT323"/>
              </a:rPr>
            </a:br>
            <a:r>
              <a:rPr lang="en-US" sz="2800">
                <a:solidFill>
                  <a:schemeClr val="lt1"/>
                </a:solidFill>
                <a:latin typeface="VT323"/>
                <a:ea typeface="VT323"/>
                <a:cs typeface="VT323"/>
                <a:sym typeface="VT323"/>
              </a:rPr>
              <a:t>Most hospital systems do not use machine learning to detect early risk patterns.</a:t>
            </a:r>
            <a:endParaRPr sz="2800">
              <a:solidFill>
                <a:schemeClr val="lt1"/>
              </a:solidFill>
              <a:latin typeface="VT323"/>
              <a:ea typeface="VT323"/>
              <a:cs typeface="VT323"/>
              <a:sym typeface="VT323"/>
            </a:endParaRPr>
          </a:p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VT323"/>
              <a:buAutoNum type="arabicPeriod"/>
            </a:pPr>
            <a:r>
              <a:rPr b="1" lang="en-US" sz="2800">
                <a:solidFill>
                  <a:schemeClr val="lt1"/>
                </a:solidFill>
                <a:latin typeface="VT323"/>
                <a:ea typeface="VT323"/>
                <a:cs typeface="VT323"/>
                <a:sym typeface="VT323"/>
              </a:rPr>
              <a:t>Cognitive Load on Clinicians</a:t>
            </a:r>
            <a:br>
              <a:rPr b="1" lang="en-US" sz="2800">
                <a:solidFill>
                  <a:schemeClr val="lt1"/>
                </a:solidFill>
                <a:latin typeface="VT323"/>
                <a:ea typeface="VT323"/>
                <a:cs typeface="VT323"/>
                <a:sym typeface="VT323"/>
              </a:rPr>
            </a:br>
            <a:r>
              <a:rPr lang="en-US" sz="2800">
                <a:solidFill>
                  <a:schemeClr val="lt1"/>
                </a:solidFill>
                <a:latin typeface="VT323"/>
                <a:ea typeface="VT323"/>
                <a:cs typeface="VT323"/>
                <a:sym typeface="VT323"/>
              </a:rPr>
              <a:t>Physicians must manually interpret large volumes of patient data under time pressure.</a:t>
            </a:r>
            <a:endParaRPr b="1" sz="2800">
              <a:solidFill>
                <a:schemeClr val="lt1"/>
              </a:solidFill>
              <a:latin typeface="VT323"/>
              <a:ea typeface="VT323"/>
              <a:cs typeface="VT323"/>
              <a:sym typeface="VT323"/>
            </a:endParaRPr>
          </a:p>
        </p:txBody>
      </p:sp>
      <p:sp>
        <p:nvSpPr>
          <p:cNvPr id="98" name="Google Shape;98;p14"/>
          <p:cNvSpPr txBox="1"/>
          <p:nvPr/>
        </p:nvSpPr>
        <p:spPr>
          <a:xfrm>
            <a:off x="11901200" y="1695025"/>
            <a:ext cx="6093000" cy="799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3000" u="sng">
                <a:solidFill>
                  <a:schemeClr val="lt1"/>
                </a:solidFill>
                <a:latin typeface="VT323"/>
                <a:ea typeface="VT323"/>
                <a:cs typeface="VT323"/>
                <a:sym typeface="VT323"/>
              </a:rPr>
              <a:t>Why This Problem Matters Now</a:t>
            </a:r>
            <a:endParaRPr b="1" sz="3000" u="sng">
              <a:solidFill>
                <a:schemeClr val="lt1"/>
              </a:solidFill>
              <a:latin typeface="VT323"/>
              <a:ea typeface="VT323"/>
              <a:cs typeface="VT323"/>
              <a:sym typeface="VT323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000">
                <a:solidFill>
                  <a:schemeClr val="lt1"/>
                </a:solidFill>
                <a:latin typeface="VT323"/>
                <a:ea typeface="VT323"/>
                <a:cs typeface="VT323"/>
                <a:sym typeface="VT323"/>
              </a:rPr>
              <a:t>Healthcare systems are becoming increasingly </a:t>
            </a:r>
            <a:r>
              <a:rPr b="1" lang="en-US" sz="3000">
                <a:solidFill>
                  <a:schemeClr val="lt1"/>
                </a:solidFill>
                <a:latin typeface="VT323"/>
                <a:ea typeface="VT323"/>
                <a:cs typeface="VT323"/>
                <a:sym typeface="VT323"/>
              </a:rPr>
              <a:t>data-rich but insight-poor</a:t>
            </a:r>
            <a:r>
              <a:rPr lang="en-US" sz="3000">
                <a:solidFill>
                  <a:schemeClr val="lt1"/>
                </a:solidFill>
                <a:latin typeface="VT323"/>
                <a:ea typeface="VT323"/>
                <a:cs typeface="VT323"/>
                <a:sym typeface="VT323"/>
              </a:rPr>
              <a:t>.</a:t>
            </a:r>
            <a:endParaRPr sz="3000">
              <a:solidFill>
                <a:schemeClr val="lt1"/>
              </a:solidFill>
              <a:latin typeface="VT323"/>
              <a:ea typeface="VT323"/>
              <a:cs typeface="VT323"/>
              <a:sym typeface="VT323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000">
                <a:solidFill>
                  <a:schemeClr val="lt1"/>
                </a:solidFill>
                <a:latin typeface="VT323"/>
                <a:ea typeface="VT323"/>
                <a:cs typeface="VT323"/>
                <a:sym typeface="VT323"/>
              </a:rPr>
              <a:t>Recent trends driving urgency:</a:t>
            </a:r>
            <a:endParaRPr sz="3000">
              <a:solidFill>
                <a:schemeClr val="lt1"/>
              </a:solidFill>
              <a:latin typeface="VT323"/>
              <a:ea typeface="VT323"/>
              <a:cs typeface="VT323"/>
              <a:sym typeface="VT323"/>
            </a:endParaRPr>
          </a:p>
          <a:p>
            <a:pPr indent="-4191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VT323"/>
              <a:buChar char="●"/>
            </a:pPr>
            <a:r>
              <a:rPr lang="en-US" sz="3000">
                <a:solidFill>
                  <a:schemeClr val="lt1"/>
                </a:solidFill>
                <a:latin typeface="VT323"/>
                <a:ea typeface="VT323"/>
                <a:cs typeface="VT323"/>
                <a:sym typeface="VT323"/>
              </a:rPr>
              <a:t>Rising ICU and emergency department load</a:t>
            </a:r>
            <a:endParaRPr sz="3000">
              <a:solidFill>
                <a:schemeClr val="lt1"/>
              </a:solidFill>
              <a:latin typeface="VT323"/>
              <a:ea typeface="VT323"/>
              <a:cs typeface="VT323"/>
              <a:sym typeface="VT323"/>
            </a:endParaRPr>
          </a:p>
          <a:p>
            <a:pPr indent="-419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VT323"/>
              <a:buChar char="●"/>
            </a:pPr>
            <a:r>
              <a:rPr lang="en-US" sz="3000">
                <a:solidFill>
                  <a:schemeClr val="lt1"/>
                </a:solidFill>
                <a:latin typeface="VT323"/>
                <a:ea typeface="VT323"/>
                <a:cs typeface="VT323"/>
                <a:sym typeface="VT323"/>
              </a:rPr>
              <a:t>Increasing clinician burnout</a:t>
            </a:r>
            <a:endParaRPr sz="3000">
              <a:solidFill>
                <a:schemeClr val="lt1"/>
              </a:solidFill>
              <a:latin typeface="VT323"/>
              <a:ea typeface="VT323"/>
              <a:cs typeface="VT323"/>
              <a:sym typeface="VT323"/>
            </a:endParaRPr>
          </a:p>
          <a:p>
            <a:pPr indent="-419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Char char="●"/>
            </a:pPr>
            <a:r>
              <a:rPr lang="en-US" sz="3000">
                <a:solidFill>
                  <a:schemeClr val="lt1"/>
                </a:solidFill>
                <a:latin typeface="VT323"/>
                <a:ea typeface="VT323"/>
                <a:cs typeface="VT323"/>
                <a:sym typeface="VT323"/>
              </a:rPr>
              <a:t>Availability of large clinical datasets like </a:t>
            </a:r>
            <a:r>
              <a:rPr b="1" lang="en-US" sz="3000">
                <a:solidFill>
                  <a:schemeClr val="lt1"/>
                </a:solidFill>
                <a:latin typeface="VT323"/>
                <a:ea typeface="VT323"/>
                <a:cs typeface="VT323"/>
                <a:sym typeface="VT323"/>
              </a:rPr>
              <a:t>MIMIC-IV</a:t>
            </a:r>
            <a:endParaRPr b="1" sz="3000">
              <a:solidFill>
                <a:schemeClr val="lt1"/>
              </a:solidFill>
              <a:latin typeface="VT323"/>
              <a:ea typeface="VT323"/>
              <a:cs typeface="VT323"/>
              <a:sym typeface="VT323"/>
            </a:endParaRPr>
          </a:p>
          <a:p>
            <a:pPr indent="-419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Char char="●"/>
            </a:pPr>
            <a:r>
              <a:rPr lang="en-US" sz="3000">
                <a:solidFill>
                  <a:schemeClr val="lt1"/>
                </a:solidFill>
                <a:latin typeface="VT323"/>
                <a:ea typeface="VT323"/>
                <a:cs typeface="VT323"/>
                <a:sym typeface="VT323"/>
              </a:rPr>
              <a:t>Advances in </a:t>
            </a:r>
            <a:r>
              <a:rPr b="1" lang="en-US" sz="3000">
                <a:solidFill>
                  <a:schemeClr val="lt1"/>
                </a:solidFill>
                <a:latin typeface="VT323"/>
                <a:ea typeface="VT323"/>
                <a:cs typeface="VT323"/>
                <a:sym typeface="VT323"/>
              </a:rPr>
              <a:t>machine learning for healthcare</a:t>
            </a:r>
            <a:endParaRPr b="1" sz="3000">
              <a:solidFill>
                <a:schemeClr val="lt1"/>
              </a:solidFill>
              <a:latin typeface="VT323"/>
              <a:ea typeface="VT323"/>
              <a:cs typeface="VT323"/>
              <a:sym typeface="VT323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3000">
                <a:solidFill>
                  <a:schemeClr val="lt1"/>
                </a:solidFill>
                <a:latin typeface="VT323"/>
                <a:ea typeface="VT323"/>
                <a:cs typeface="VT323"/>
                <a:sym typeface="VT323"/>
              </a:rPr>
              <a:t>AI can now detect </a:t>
            </a:r>
            <a:r>
              <a:rPr b="1" lang="en-US" sz="3000">
                <a:solidFill>
                  <a:schemeClr val="lt1"/>
                </a:solidFill>
                <a:latin typeface="VT323"/>
                <a:ea typeface="VT323"/>
                <a:cs typeface="VT323"/>
                <a:sym typeface="VT323"/>
              </a:rPr>
              <a:t>patterns invisible to human monitoring</a:t>
            </a:r>
            <a:r>
              <a:rPr lang="en-US" sz="3000">
                <a:solidFill>
                  <a:schemeClr val="lt1"/>
                </a:solidFill>
                <a:latin typeface="VT323"/>
                <a:ea typeface="VT323"/>
                <a:cs typeface="VT323"/>
                <a:sym typeface="VT323"/>
              </a:rPr>
              <a:t>, enabling earlier intervention.</a:t>
            </a:r>
            <a:endParaRPr sz="3000">
              <a:solidFill>
                <a:schemeClr val="lt1"/>
              </a:solidFill>
              <a:latin typeface="VT323"/>
              <a:ea typeface="VT323"/>
              <a:cs typeface="VT323"/>
              <a:sym typeface="VT323"/>
            </a:endParaRPr>
          </a:p>
        </p:txBody>
      </p:sp>
      <p:cxnSp>
        <p:nvCxnSpPr>
          <p:cNvPr id="99" name="Google Shape;99;p14"/>
          <p:cNvCxnSpPr/>
          <p:nvPr/>
        </p:nvCxnSpPr>
        <p:spPr>
          <a:xfrm flipH="1">
            <a:off x="5254233" y="1751425"/>
            <a:ext cx="52800" cy="79923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0" name="Google Shape;100;p14"/>
          <p:cNvCxnSpPr/>
          <p:nvPr/>
        </p:nvCxnSpPr>
        <p:spPr>
          <a:xfrm flipH="1">
            <a:off x="11763471" y="1903825"/>
            <a:ext cx="52800" cy="79923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5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6" name="Google Shape;106;p15"/>
          <p:cNvSpPr txBox="1"/>
          <p:nvPr/>
        </p:nvSpPr>
        <p:spPr>
          <a:xfrm>
            <a:off x="1318850" y="238851"/>
            <a:ext cx="10706400" cy="106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929" u="none" cap="none" strike="noStrike">
                <a:solidFill>
                  <a:srgbClr val="D9D9D9"/>
                </a:solidFill>
                <a:latin typeface="VT323"/>
                <a:ea typeface="VT323"/>
                <a:cs typeface="VT323"/>
                <a:sym typeface="VT323"/>
              </a:rPr>
              <a:t>PROPOSED SOLUTION </a:t>
            </a:r>
            <a:endParaRPr/>
          </a:p>
        </p:txBody>
      </p:sp>
      <p:sp>
        <p:nvSpPr>
          <p:cNvPr id="107" name="Google Shape;107;p15"/>
          <p:cNvSpPr txBox="1"/>
          <p:nvPr/>
        </p:nvSpPr>
        <p:spPr>
          <a:xfrm>
            <a:off x="448425" y="1689300"/>
            <a:ext cx="10706400" cy="28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3700" u="sng">
                <a:solidFill>
                  <a:schemeClr val="lt1"/>
                </a:solidFill>
                <a:latin typeface="VT323"/>
                <a:ea typeface="VT323"/>
                <a:cs typeface="VT323"/>
                <a:sym typeface="VT323"/>
              </a:rPr>
              <a:t>CORE IDEA / CONCEPT</a:t>
            </a:r>
            <a:endParaRPr b="1" sz="3700" u="sng">
              <a:solidFill>
                <a:schemeClr val="lt1"/>
              </a:solidFill>
              <a:latin typeface="VT323"/>
              <a:ea typeface="VT323"/>
              <a:cs typeface="VT323"/>
              <a:sym typeface="VT323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500">
                <a:solidFill>
                  <a:schemeClr val="lt1"/>
                </a:solidFill>
                <a:latin typeface="VT323"/>
                <a:ea typeface="VT323"/>
                <a:cs typeface="VT323"/>
                <a:sym typeface="VT323"/>
              </a:rPr>
              <a:t>Project Chronos</a:t>
            </a:r>
            <a:r>
              <a:rPr lang="en-US" sz="2500">
                <a:solidFill>
                  <a:schemeClr val="lt1"/>
                </a:solidFill>
                <a:latin typeface="VT323"/>
                <a:ea typeface="VT323"/>
                <a:cs typeface="VT323"/>
                <a:sym typeface="VT323"/>
              </a:rPr>
              <a:t> is an AI-driven early warning system that analyzes patient vital signs and clinical data to </a:t>
            </a:r>
            <a:r>
              <a:rPr b="1" lang="en-US" sz="2500">
                <a:solidFill>
                  <a:schemeClr val="lt1"/>
                </a:solidFill>
                <a:latin typeface="VT323"/>
                <a:ea typeface="VT323"/>
                <a:cs typeface="VT323"/>
                <a:sym typeface="VT323"/>
              </a:rPr>
              <a:t>predict clinical deterioration hours before it occurs</a:t>
            </a:r>
            <a:r>
              <a:rPr lang="en-US" sz="2500">
                <a:solidFill>
                  <a:schemeClr val="lt1"/>
                </a:solidFill>
                <a:latin typeface="VT323"/>
                <a:ea typeface="VT323"/>
                <a:cs typeface="VT323"/>
                <a:sym typeface="VT323"/>
              </a:rPr>
              <a:t>.</a:t>
            </a:r>
            <a:endParaRPr sz="2500">
              <a:solidFill>
                <a:schemeClr val="lt1"/>
              </a:solidFill>
              <a:latin typeface="VT323"/>
              <a:ea typeface="VT323"/>
              <a:cs typeface="VT323"/>
              <a:sym typeface="VT323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2500">
                <a:solidFill>
                  <a:schemeClr val="lt1"/>
                </a:solidFill>
                <a:latin typeface="VT323"/>
                <a:ea typeface="VT323"/>
                <a:cs typeface="VT323"/>
                <a:sym typeface="VT323"/>
              </a:rPr>
              <a:t>Instead of reacting to crises, the system </a:t>
            </a:r>
            <a:r>
              <a:rPr b="1" lang="en-US" sz="2500">
                <a:solidFill>
                  <a:schemeClr val="lt1"/>
                </a:solidFill>
                <a:latin typeface="VT323"/>
                <a:ea typeface="VT323"/>
                <a:cs typeface="VT323"/>
                <a:sym typeface="VT323"/>
              </a:rPr>
              <a:t>anticipates risk</a:t>
            </a:r>
            <a:r>
              <a:rPr lang="en-US" sz="2500">
                <a:solidFill>
                  <a:schemeClr val="lt1"/>
                </a:solidFill>
                <a:latin typeface="VT323"/>
                <a:ea typeface="VT323"/>
                <a:cs typeface="VT323"/>
                <a:sym typeface="VT323"/>
              </a:rPr>
              <a:t> and alerts clinicians in advance.</a:t>
            </a:r>
            <a:endParaRPr sz="4600">
              <a:solidFill>
                <a:schemeClr val="lt1"/>
              </a:solidFill>
              <a:latin typeface="VT323"/>
              <a:ea typeface="VT323"/>
              <a:cs typeface="VT323"/>
              <a:sym typeface="VT323"/>
            </a:endParaRPr>
          </a:p>
        </p:txBody>
      </p:sp>
      <p:sp>
        <p:nvSpPr>
          <p:cNvPr id="108" name="Google Shape;108;p15"/>
          <p:cNvSpPr txBox="1"/>
          <p:nvPr/>
        </p:nvSpPr>
        <p:spPr>
          <a:xfrm>
            <a:off x="448425" y="5359150"/>
            <a:ext cx="5855400" cy="49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500">
                <a:solidFill>
                  <a:schemeClr val="lt1"/>
                </a:solidFill>
                <a:latin typeface="VT323"/>
                <a:ea typeface="VT323"/>
                <a:cs typeface="VT323"/>
                <a:sym typeface="VT323"/>
              </a:rPr>
              <a:t>1. Early Risk Prediction</a:t>
            </a:r>
            <a:endParaRPr b="1" sz="2500">
              <a:solidFill>
                <a:schemeClr val="lt1"/>
              </a:solidFill>
              <a:latin typeface="VT323"/>
              <a:ea typeface="VT323"/>
              <a:cs typeface="VT323"/>
              <a:sym typeface="VT323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300">
                <a:solidFill>
                  <a:schemeClr val="lt1"/>
                </a:solidFill>
                <a:latin typeface="VT323"/>
                <a:ea typeface="VT323"/>
                <a:cs typeface="VT323"/>
                <a:sym typeface="VT323"/>
              </a:rPr>
              <a:t>Machine learning models analyze patient vitals to estimate the probability of deterioration.</a:t>
            </a:r>
            <a:endParaRPr sz="2300">
              <a:solidFill>
                <a:schemeClr val="lt1"/>
              </a:solidFill>
              <a:latin typeface="VT323"/>
              <a:ea typeface="VT323"/>
              <a:cs typeface="VT323"/>
              <a:sym typeface="VT323"/>
            </a:endParaRPr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500">
                <a:solidFill>
                  <a:schemeClr val="lt1"/>
                </a:solidFill>
                <a:latin typeface="VT323"/>
                <a:ea typeface="VT323"/>
                <a:cs typeface="VT323"/>
                <a:sym typeface="VT323"/>
              </a:rPr>
              <a:t>2. Continuous Monitoring</a:t>
            </a:r>
            <a:endParaRPr b="1" sz="2500">
              <a:solidFill>
                <a:schemeClr val="lt1"/>
              </a:solidFill>
              <a:latin typeface="VT323"/>
              <a:ea typeface="VT323"/>
              <a:cs typeface="VT323"/>
              <a:sym typeface="VT323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300">
                <a:solidFill>
                  <a:schemeClr val="lt1"/>
                </a:solidFill>
                <a:latin typeface="VT323"/>
                <a:ea typeface="VT323"/>
                <a:cs typeface="VT323"/>
                <a:sym typeface="VT323"/>
              </a:rPr>
              <a:t>The system continuously processes incoming patient data and updates risk scores in real time.</a:t>
            </a:r>
            <a:endParaRPr sz="2300">
              <a:solidFill>
                <a:schemeClr val="lt1"/>
              </a:solidFill>
              <a:latin typeface="VT323"/>
              <a:ea typeface="VT323"/>
              <a:cs typeface="VT323"/>
              <a:sym typeface="VT323"/>
            </a:endParaRPr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500">
                <a:solidFill>
                  <a:schemeClr val="lt1"/>
                </a:solidFill>
                <a:latin typeface="VT323"/>
                <a:ea typeface="VT323"/>
                <a:cs typeface="VT323"/>
                <a:sym typeface="VT323"/>
              </a:rPr>
              <a:t>3. Intelligent Alerting</a:t>
            </a:r>
            <a:endParaRPr b="1" sz="2500">
              <a:solidFill>
                <a:schemeClr val="lt1"/>
              </a:solidFill>
              <a:latin typeface="VT323"/>
              <a:ea typeface="VT323"/>
              <a:cs typeface="VT323"/>
              <a:sym typeface="VT323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2300">
                <a:solidFill>
                  <a:schemeClr val="lt1"/>
                </a:solidFill>
                <a:latin typeface="VT323"/>
                <a:ea typeface="VT323"/>
                <a:cs typeface="VT323"/>
                <a:sym typeface="VT323"/>
              </a:rPr>
              <a:t>Instead of threshold alarms, the system generates </a:t>
            </a:r>
            <a:r>
              <a:rPr b="1" lang="en-US" sz="2300">
                <a:solidFill>
                  <a:schemeClr val="lt1"/>
                </a:solidFill>
                <a:latin typeface="VT323"/>
                <a:ea typeface="VT323"/>
                <a:cs typeface="VT323"/>
                <a:sym typeface="VT323"/>
              </a:rPr>
              <a:t>predictive alerts</a:t>
            </a:r>
            <a:r>
              <a:rPr lang="en-US" sz="2300">
                <a:solidFill>
                  <a:schemeClr val="lt1"/>
                </a:solidFill>
                <a:latin typeface="VT323"/>
                <a:ea typeface="VT323"/>
                <a:cs typeface="VT323"/>
                <a:sym typeface="VT323"/>
              </a:rPr>
              <a:t> based on risk trajectories.</a:t>
            </a:r>
            <a:endParaRPr sz="4400">
              <a:solidFill>
                <a:schemeClr val="lt1"/>
              </a:solidFill>
              <a:latin typeface="VT323"/>
              <a:ea typeface="VT323"/>
              <a:cs typeface="VT323"/>
              <a:sym typeface="VT323"/>
            </a:endParaRPr>
          </a:p>
        </p:txBody>
      </p:sp>
      <p:sp>
        <p:nvSpPr>
          <p:cNvPr id="109" name="Google Shape;109;p15"/>
          <p:cNvSpPr txBox="1"/>
          <p:nvPr/>
        </p:nvSpPr>
        <p:spPr>
          <a:xfrm>
            <a:off x="11479400" y="1588425"/>
            <a:ext cx="6541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 u="sng">
                <a:solidFill>
                  <a:schemeClr val="lt1"/>
                </a:solidFill>
                <a:latin typeface="VT323"/>
                <a:ea typeface="VT323"/>
                <a:cs typeface="VT323"/>
                <a:sym typeface="VT323"/>
              </a:rPr>
              <a:t>HOW IT ADDRESSES THE CHALLENGES</a:t>
            </a:r>
            <a:endParaRPr b="1" sz="3200" u="sng">
              <a:solidFill>
                <a:schemeClr val="lt1"/>
              </a:solidFill>
              <a:latin typeface="VT323"/>
              <a:ea typeface="VT323"/>
              <a:cs typeface="VT323"/>
              <a:sym typeface="VT323"/>
            </a:endParaRPr>
          </a:p>
        </p:txBody>
      </p:sp>
      <p:graphicFrame>
        <p:nvGraphicFramePr>
          <p:cNvPr id="110" name="Google Shape;110;p15"/>
          <p:cNvGraphicFramePr/>
          <p:nvPr/>
        </p:nvGraphicFramePr>
        <p:xfrm>
          <a:off x="11373750" y="26087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{E3AD02C6-73F4-4E86-B738-824DFAA2CBF0}</a:tableStyleId>
              </a:tblPr>
              <a:tblGrid>
                <a:gridCol w="3560850"/>
                <a:gridCol w="3560850"/>
              </a:tblGrid>
              <a:tr h="4530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>
                          <a:solidFill>
                            <a:schemeClr val="lt1"/>
                          </a:solidFill>
                          <a:latin typeface="VT323"/>
                          <a:ea typeface="VT323"/>
                          <a:cs typeface="VT323"/>
                          <a:sym typeface="VT323"/>
                        </a:rPr>
                        <a:t>Challenge</a:t>
                      </a:r>
                      <a:endParaRPr b="1" sz="1600">
                        <a:solidFill>
                          <a:schemeClr val="lt1"/>
                        </a:solidFill>
                        <a:latin typeface="VT323"/>
                        <a:ea typeface="VT323"/>
                        <a:cs typeface="VT323"/>
                        <a:sym typeface="VT323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>
                          <a:solidFill>
                            <a:schemeClr val="lt1"/>
                          </a:solidFill>
                          <a:latin typeface="VT323"/>
                          <a:ea typeface="VT323"/>
                          <a:cs typeface="VT323"/>
                          <a:sym typeface="VT323"/>
                        </a:rPr>
                        <a:t>Solution</a:t>
                      </a:r>
                      <a:endParaRPr b="1" sz="1600">
                        <a:solidFill>
                          <a:schemeClr val="lt1"/>
                        </a:solidFill>
                        <a:latin typeface="VT323"/>
                        <a:ea typeface="VT323"/>
                        <a:cs typeface="VT323"/>
                        <a:sym typeface="VT323"/>
                      </a:endParaRPr>
                    </a:p>
                  </a:txBody>
                  <a:tcPr marT="91425" marB="91425" marR="91425" marL="91425"/>
                </a:tc>
              </a:tr>
              <a:tr h="56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>
                          <a:solidFill>
                            <a:schemeClr val="lt1"/>
                          </a:solidFill>
                          <a:latin typeface="VT323"/>
                          <a:ea typeface="VT323"/>
                          <a:cs typeface="VT323"/>
                          <a:sym typeface="VT323"/>
                        </a:rPr>
                        <a:t>Reactive monitoring</a:t>
                      </a:r>
                      <a:endParaRPr sz="1900">
                        <a:solidFill>
                          <a:schemeClr val="lt1"/>
                        </a:solidFill>
                        <a:latin typeface="VT323"/>
                        <a:ea typeface="VT323"/>
                        <a:cs typeface="VT323"/>
                        <a:sym typeface="VT323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>
                          <a:solidFill>
                            <a:schemeClr val="lt1"/>
                          </a:solidFill>
                          <a:latin typeface="VT323"/>
                          <a:ea typeface="VT323"/>
                          <a:cs typeface="VT323"/>
                          <a:sym typeface="VT323"/>
                        </a:rPr>
                        <a:t>Predictive machine learning models</a:t>
                      </a:r>
                      <a:endParaRPr sz="1900">
                        <a:solidFill>
                          <a:schemeClr val="lt1"/>
                        </a:solidFill>
                        <a:latin typeface="VT323"/>
                        <a:ea typeface="VT323"/>
                        <a:cs typeface="VT323"/>
                        <a:sym typeface="VT323"/>
                      </a:endParaRPr>
                    </a:p>
                  </a:txBody>
                  <a:tcPr marT="91425" marB="91425" marR="91425" marL="91425"/>
                </a:tc>
              </a:tr>
              <a:tr h="322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>
                          <a:solidFill>
                            <a:schemeClr val="lt1"/>
                          </a:solidFill>
                          <a:latin typeface="VT323"/>
                          <a:ea typeface="VT323"/>
                          <a:cs typeface="VT323"/>
                          <a:sym typeface="VT323"/>
                        </a:rPr>
                        <a:t>Data overload</a:t>
                      </a:r>
                      <a:endParaRPr sz="1900">
                        <a:solidFill>
                          <a:schemeClr val="lt1"/>
                        </a:solidFill>
                        <a:latin typeface="VT323"/>
                        <a:ea typeface="VT323"/>
                        <a:cs typeface="VT323"/>
                        <a:sym typeface="VT323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>
                          <a:solidFill>
                            <a:schemeClr val="lt1"/>
                          </a:solidFill>
                          <a:latin typeface="VT323"/>
                          <a:ea typeface="VT323"/>
                          <a:cs typeface="VT323"/>
                          <a:sym typeface="VT323"/>
                        </a:rPr>
                        <a:t>Automated risk scoring</a:t>
                      </a:r>
                      <a:endParaRPr sz="1900">
                        <a:solidFill>
                          <a:schemeClr val="lt1"/>
                        </a:solidFill>
                        <a:latin typeface="VT323"/>
                        <a:ea typeface="VT323"/>
                        <a:cs typeface="VT323"/>
                        <a:sym typeface="VT323"/>
                      </a:endParaRPr>
                    </a:p>
                  </a:txBody>
                  <a:tcPr marT="91425" marB="91425" marR="91425" marL="91425"/>
                </a:tc>
              </a:tr>
              <a:tr h="322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>
                          <a:solidFill>
                            <a:schemeClr val="lt1"/>
                          </a:solidFill>
                          <a:latin typeface="VT323"/>
                          <a:ea typeface="VT323"/>
                          <a:cs typeface="VT323"/>
                          <a:sym typeface="VT323"/>
                        </a:rPr>
                        <a:t>Alarm fatigue</a:t>
                      </a:r>
                      <a:endParaRPr sz="1900">
                        <a:solidFill>
                          <a:schemeClr val="lt1"/>
                        </a:solidFill>
                        <a:latin typeface="VT323"/>
                        <a:ea typeface="VT323"/>
                        <a:cs typeface="VT323"/>
                        <a:sym typeface="VT323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>
                          <a:solidFill>
                            <a:schemeClr val="lt1"/>
                          </a:solidFill>
                          <a:latin typeface="VT323"/>
                          <a:ea typeface="VT323"/>
                          <a:cs typeface="VT323"/>
                          <a:sym typeface="VT323"/>
                        </a:rPr>
                        <a:t>Intelligent alerts based on trends</a:t>
                      </a:r>
                      <a:endParaRPr sz="1900">
                        <a:solidFill>
                          <a:schemeClr val="lt1"/>
                        </a:solidFill>
                        <a:latin typeface="VT323"/>
                        <a:ea typeface="VT323"/>
                        <a:cs typeface="VT323"/>
                        <a:sym typeface="VT323"/>
                      </a:endParaRPr>
                    </a:p>
                  </a:txBody>
                  <a:tcPr marT="91425" marB="91425" marR="91425" marL="91425"/>
                </a:tc>
              </a:tr>
              <a:tr h="276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>
                          <a:solidFill>
                            <a:schemeClr val="lt1"/>
                          </a:solidFill>
                          <a:latin typeface="VT323"/>
                          <a:ea typeface="VT323"/>
                          <a:cs typeface="VT323"/>
                          <a:sym typeface="VT323"/>
                        </a:rPr>
                        <a:t>Complex data interpretation</a:t>
                      </a:r>
                      <a:endParaRPr sz="1900">
                        <a:solidFill>
                          <a:schemeClr val="lt1"/>
                        </a:solidFill>
                        <a:latin typeface="VT323"/>
                        <a:ea typeface="VT323"/>
                        <a:cs typeface="VT323"/>
                        <a:sym typeface="VT323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>
                          <a:solidFill>
                            <a:schemeClr val="lt1"/>
                          </a:solidFill>
                          <a:latin typeface="VT323"/>
                          <a:ea typeface="VT323"/>
                          <a:cs typeface="VT323"/>
                          <a:sym typeface="VT323"/>
                        </a:rPr>
                        <a:t>Visual dashboards</a:t>
                      </a:r>
                      <a:endParaRPr sz="1900">
                        <a:solidFill>
                          <a:schemeClr val="lt1"/>
                        </a:solidFill>
                        <a:latin typeface="VT323"/>
                        <a:ea typeface="VT323"/>
                        <a:cs typeface="VT323"/>
                        <a:sym typeface="VT323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11" name="Google Shape;111;p15"/>
          <p:cNvSpPr txBox="1"/>
          <p:nvPr/>
        </p:nvSpPr>
        <p:spPr>
          <a:xfrm>
            <a:off x="11268200" y="5321038"/>
            <a:ext cx="8387700" cy="214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3600" u="sng">
                <a:solidFill>
                  <a:schemeClr val="lt1"/>
                </a:solidFill>
                <a:latin typeface="VT323"/>
                <a:ea typeface="VT323"/>
                <a:cs typeface="VT323"/>
                <a:sym typeface="VT323"/>
              </a:rPr>
              <a:t>WHY THIS SOLUTION IS BETTER</a:t>
            </a:r>
            <a:endParaRPr b="1" sz="3600" u="sng">
              <a:solidFill>
                <a:schemeClr val="lt1"/>
              </a:solidFill>
              <a:latin typeface="VT323"/>
              <a:ea typeface="VT323"/>
              <a:cs typeface="VT323"/>
              <a:sym typeface="VT323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solidFill>
                  <a:schemeClr val="lt1"/>
                </a:solidFill>
                <a:latin typeface="VT323"/>
                <a:ea typeface="VT323"/>
                <a:cs typeface="VT323"/>
                <a:sym typeface="VT323"/>
              </a:rPr>
              <a:t>Existing hospital monitoring systems mainly rely on </a:t>
            </a:r>
            <a:r>
              <a:rPr b="1" lang="en-US" sz="2400">
                <a:solidFill>
                  <a:schemeClr val="lt1"/>
                </a:solidFill>
                <a:latin typeface="VT323"/>
                <a:ea typeface="VT323"/>
                <a:cs typeface="VT323"/>
                <a:sym typeface="VT323"/>
              </a:rPr>
              <a:t>fixed thresholds</a:t>
            </a:r>
            <a:r>
              <a:rPr lang="en-US" sz="2400">
                <a:solidFill>
                  <a:schemeClr val="lt1"/>
                </a:solidFill>
                <a:latin typeface="VT323"/>
                <a:ea typeface="VT323"/>
                <a:cs typeface="VT323"/>
                <a:sym typeface="VT323"/>
              </a:rPr>
              <a:t>.</a:t>
            </a:r>
            <a:endParaRPr sz="2400">
              <a:solidFill>
                <a:schemeClr val="lt1"/>
              </a:solidFill>
              <a:latin typeface="VT323"/>
              <a:ea typeface="VT323"/>
              <a:cs typeface="VT323"/>
              <a:sym typeface="VT323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solidFill>
                  <a:schemeClr val="lt1"/>
                </a:solidFill>
                <a:latin typeface="VT323"/>
                <a:ea typeface="VT323"/>
                <a:cs typeface="VT323"/>
                <a:sym typeface="VT323"/>
              </a:rPr>
              <a:t>Example:</a:t>
            </a:r>
            <a:endParaRPr sz="2400">
              <a:solidFill>
                <a:schemeClr val="lt1"/>
              </a:solidFill>
              <a:latin typeface="VT323"/>
              <a:ea typeface="VT323"/>
              <a:cs typeface="VT323"/>
              <a:sym typeface="VT323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4500">
              <a:solidFill>
                <a:schemeClr val="lt1"/>
              </a:solidFill>
              <a:latin typeface="VT323"/>
              <a:ea typeface="VT323"/>
              <a:cs typeface="VT323"/>
              <a:sym typeface="VT323"/>
            </a:endParaRPr>
          </a:p>
        </p:txBody>
      </p:sp>
      <p:sp>
        <p:nvSpPr>
          <p:cNvPr id="112" name="Google Shape;112;p15"/>
          <p:cNvSpPr/>
          <p:nvPr/>
        </p:nvSpPr>
        <p:spPr>
          <a:xfrm>
            <a:off x="12930000" y="6778750"/>
            <a:ext cx="3745500" cy="685800"/>
          </a:xfrm>
          <a:prstGeom prst="bracketPair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lt1"/>
                </a:solidFill>
                <a:latin typeface="VT323"/>
                <a:ea typeface="VT323"/>
                <a:cs typeface="VT323"/>
                <a:sym typeface="VT323"/>
              </a:rPr>
              <a:t>Alert if heart rate &gt; 130</a:t>
            </a:r>
            <a:endParaRPr sz="2400">
              <a:solidFill>
                <a:schemeClr val="lt1"/>
              </a:solidFill>
              <a:latin typeface="VT323"/>
              <a:ea typeface="VT323"/>
              <a:cs typeface="VT323"/>
              <a:sym typeface="VT323"/>
            </a:endParaRPr>
          </a:p>
        </p:txBody>
      </p:sp>
      <p:sp>
        <p:nvSpPr>
          <p:cNvPr id="113" name="Google Shape;113;p15"/>
          <p:cNvSpPr/>
          <p:nvPr/>
        </p:nvSpPr>
        <p:spPr>
          <a:xfrm>
            <a:off x="12481550" y="9110650"/>
            <a:ext cx="4536900" cy="685800"/>
          </a:xfrm>
          <a:prstGeom prst="bracketPair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lt1"/>
                </a:solidFill>
                <a:latin typeface="VT323"/>
                <a:ea typeface="VT323"/>
                <a:cs typeface="VT323"/>
                <a:sym typeface="VT323"/>
              </a:rPr>
              <a:t>Predict probability of deterioration in next 6 hours</a:t>
            </a:r>
            <a:endParaRPr sz="2400">
              <a:solidFill>
                <a:schemeClr val="lt1"/>
              </a:solidFill>
              <a:latin typeface="VT323"/>
              <a:ea typeface="VT323"/>
              <a:cs typeface="VT323"/>
              <a:sym typeface="VT323"/>
            </a:endParaRPr>
          </a:p>
        </p:txBody>
      </p:sp>
      <p:sp>
        <p:nvSpPr>
          <p:cNvPr id="114" name="Google Shape;114;p15"/>
          <p:cNvSpPr txBox="1"/>
          <p:nvPr/>
        </p:nvSpPr>
        <p:spPr>
          <a:xfrm>
            <a:off x="11268200" y="7840209"/>
            <a:ext cx="7385400" cy="92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lt1"/>
                </a:solidFill>
                <a:latin typeface="VT323"/>
                <a:ea typeface="VT323"/>
                <a:cs typeface="VT323"/>
                <a:sym typeface="VT323"/>
              </a:rPr>
              <a:t>This allows clinicians to </a:t>
            </a:r>
            <a:r>
              <a:rPr b="1" lang="en-US" sz="2400">
                <a:solidFill>
                  <a:schemeClr val="lt1"/>
                </a:solidFill>
                <a:latin typeface="VT323"/>
                <a:ea typeface="VT323"/>
                <a:cs typeface="VT323"/>
                <a:sym typeface="VT323"/>
              </a:rPr>
              <a:t>intervene earlier</a:t>
            </a:r>
            <a:r>
              <a:rPr lang="en-US" sz="2400">
                <a:solidFill>
                  <a:schemeClr val="lt1"/>
                </a:solidFill>
                <a:latin typeface="VT323"/>
                <a:ea typeface="VT323"/>
                <a:cs typeface="VT323"/>
                <a:sym typeface="VT323"/>
              </a:rPr>
              <a:t>, potentially preventing life-threatening events.</a:t>
            </a:r>
            <a:endParaRPr b="1" sz="2400">
              <a:solidFill>
                <a:schemeClr val="lt1"/>
              </a:solidFill>
              <a:latin typeface="VT323"/>
              <a:ea typeface="VT323"/>
              <a:cs typeface="VT323"/>
              <a:sym typeface="VT323"/>
            </a:endParaRPr>
          </a:p>
        </p:txBody>
      </p:sp>
      <p:sp>
        <p:nvSpPr>
          <p:cNvPr id="115" name="Google Shape;115;p15"/>
          <p:cNvSpPr txBox="1"/>
          <p:nvPr/>
        </p:nvSpPr>
        <p:spPr>
          <a:xfrm>
            <a:off x="6157750" y="5555500"/>
            <a:ext cx="4940100" cy="459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500">
                <a:solidFill>
                  <a:srgbClr val="FFFFFF"/>
                </a:solidFill>
                <a:latin typeface="VT323"/>
                <a:ea typeface="VT323"/>
                <a:cs typeface="VT323"/>
                <a:sym typeface="VT323"/>
              </a:rPr>
              <a:t>4. Clinical Dashboard</a:t>
            </a:r>
            <a:endParaRPr b="1" sz="2500">
              <a:solidFill>
                <a:srgbClr val="FFFFFF"/>
              </a:solidFill>
              <a:latin typeface="VT323"/>
              <a:ea typeface="VT323"/>
              <a:cs typeface="VT323"/>
              <a:sym typeface="VT323"/>
            </a:endParaRPr>
          </a:p>
          <a:p>
            <a:pPr indent="0" lvl="0" marL="0" rtl="0" algn="l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300">
                <a:solidFill>
                  <a:srgbClr val="FFFFFF"/>
                </a:solidFill>
                <a:latin typeface="VT323"/>
                <a:ea typeface="VT323"/>
                <a:cs typeface="VT323"/>
                <a:sym typeface="VT323"/>
              </a:rPr>
              <a:t>A visualization dashboard displays:</a:t>
            </a:r>
            <a:endParaRPr sz="2300">
              <a:solidFill>
                <a:srgbClr val="FFFFFF"/>
              </a:solidFill>
              <a:latin typeface="VT323"/>
              <a:ea typeface="VT323"/>
              <a:cs typeface="VT323"/>
              <a:sym typeface="VT323"/>
            </a:endParaRPr>
          </a:p>
          <a:p>
            <a:pPr indent="-3746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2300"/>
              <a:buFont typeface="VT323"/>
              <a:buChar char="●"/>
            </a:pPr>
            <a:r>
              <a:rPr lang="en-US" sz="2300">
                <a:solidFill>
                  <a:srgbClr val="FFFFFF"/>
                </a:solidFill>
                <a:latin typeface="VT323"/>
                <a:ea typeface="VT323"/>
                <a:cs typeface="VT323"/>
                <a:sym typeface="VT323"/>
              </a:rPr>
              <a:t>patient risk scores</a:t>
            </a:r>
            <a:endParaRPr sz="2300">
              <a:solidFill>
                <a:srgbClr val="FFFFFF"/>
              </a:solidFill>
              <a:latin typeface="VT323"/>
              <a:ea typeface="VT323"/>
              <a:cs typeface="VT323"/>
              <a:sym typeface="VT323"/>
            </a:endParaRPr>
          </a:p>
          <a:p>
            <a:pPr indent="-3746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300"/>
              <a:buFont typeface="VT323"/>
              <a:buChar char="●"/>
            </a:pPr>
            <a:r>
              <a:rPr lang="en-US" sz="2300">
                <a:solidFill>
                  <a:srgbClr val="FFFFFF"/>
                </a:solidFill>
                <a:latin typeface="VT323"/>
                <a:ea typeface="VT323"/>
                <a:cs typeface="VT323"/>
                <a:sym typeface="VT323"/>
              </a:rPr>
              <a:t>vitals timeline</a:t>
            </a:r>
            <a:endParaRPr sz="2300">
              <a:solidFill>
                <a:srgbClr val="FFFFFF"/>
              </a:solidFill>
              <a:latin typeface="VT323"/>
              <a:ea typeface="VT323"/>
              <a:cs typeface="VT323"/>
              <a:sym typeface="VT323"/>
            </a:endParaRPr>
          </a:p>
          <a:p>
            <a:pPr indent="-3746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300"/>
              <a:buFont typeface="VT323"/>
              <a:buChar char="●"/>
            </a:pPr>
            <a:r>
              <a:rPr lang="en-US" sz="2300">
                <a:solidFill>
                  <a:srgbClr val="FFFFFF"/>
                </a:solidFill>
                <a:latin typeface="VT323"/>
                <a:ea typeface="VT323"/>
                <a:cs typeface="VT323"/>
                <a:sym typeface="VT323"/>
              </a:rPr>
              <a:t>predicted deterioration probability</a:t>
            </a:r>
            <a:endParaRPr sz="2300">
              <a:solidFill>
                <a:srgbClr val="FFFFFF"/>
              </a:solidFill>
              <a:latin typeface="VT323"/>
              <a:ea typeface="VT323"/>
              <a:cs typeface="VT323"/>
              <a:sym typeface="VT323"/>
            </a:endParaRPr>
          </a:p>
          <a:p>
            <a:pPr indent="0" lvl="0" marL="0" rtl="0" algn="l">
              <a:lnSpc>
                <a:spcPct val="12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500">
                <a:solidFill>
                  <a:srgbClr val="FFFFFF"/>
                </a:solidFill>
                <a:latin typeface="VT323"/>
                <a:ea typeface="VT323"/>
                <a:cs typeface="VT323"/>
                <a:sym typeface="VT323"/>
              </a:rPr>
              <a:t>5. Explainable AI</a:t>
            </a:r>
            <a:endParaRPr b="1" sz="2500">
              <a:solidFill>
                <a:srgbClr val="FFFFFF"/>
              </a:solidFill>
              <a:latin typeface="VT323"/>
              <a:ea typeface="VT323"/>
              <a:cs typeface="VT323"/>
              <a:sym typeface="VT323"/>
            </a:endParaRPr>
          </a:p>
          <a:p>
            <a:pPr indent="0" lvl="0" marL="0" rtl="0" algn="l">
              <a:lnSpc>
                <a:spcPct val="12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2300">
                <a:solidFill>
                  <a:srgbClr val="FFFFFF"/>
                </a:solidFill>
                <a:latin typeface="VT323"/>
                <a:ea typeface="VT323"/>
                <a:cs typeface="VT323"/>
                <a:sym typeface="VT323"/>
              </a:rPr>
              <a:t>The system highlights </a:t>
            </a:r>
            <a:r>
              <a:rPr b="1" lang="en-US" sz="2300">
                <a:solidFill>
                  <a:srgbClr val="FFFFFF"/>
                </a:solidFill>
                <a:latin typeface="VT323"/>
                <a:ea typeface="VT323"/>
                <a:cs typeface="VT323"/>
                <a:sym typeface="VT323"/>
              </a:rPr>
              <a:t>which vital signs contributed most to the prediction</a:t>
            </a:r>
            <a:r>
              <a:rPr lang="en-US" sz="2300">
                <a:solidFill>
                  <a:srgbClr val="FFFFFF"/>
                </a:solidFill>
                <a:latin typeface="VT323"/>
                <a:ea typeface="VT323"/>
                <a:cs typeface="VT323"/>
                <a:sym typeface="VT323"/>
              </a:rPr>
              <a:t>, improving trust among clinicians.</a:t>
            </a:r>
            <a:endParaRPr b="1" sz="3500">
              <a:solidFill>
                <a:schemeClr val="lt1"/>
              </a:solidFill>
              <a:latin typeface="VT323"/>
              <a:ea typeface="VT323"/>
              <a:cs typeface="VT323"/>
              <a:sym typeface="VT323"/>
            </a:endParaRPr>
          </a:p>
        </p:txBody>
      </p:sp>
      <p:sp>
        <p:nvSpPr>
          <p:cNvPr id="116" name="Google Shape;116;p15"/>
          <p:cNvSpPr txBox="1"/>
          <p:nvPr/>
        </p:nvSpPr>
        <p:spPr>
          <a:xfrm>
            <a:off x="3038575" y="4549200"/>
            <a:ext cx="43257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2400"/>
              </a:spcBef>
              <a:spcAft>
                <a:spcPts val="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3500" u="sng">
                <a:solidFill>
                  <a:schemeClr val="lt1"/>
                </a:solidFill>
                <a:latin typeface="VT323"/>
                <a:ea typeface="VT323"/>
                <a:cs typeface="VT323"/>
                <a:sym typeface="VT323"/>
              </a:rPr>
              <a:t>KEY FEATURES</a:t>
            </a:r>
            <a:endParaRPr sz="3200" u="sng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7" name="Google Shape;117;p15"/>
          <p:cNvCxnSpPr/>
          <p:nvPr/>
        </p:nvCxnSpPr>
        <p:spPr>
          <a:xfrm flipH="1" rot="10800000">
            <a:off x="427300" y="4520975"/>
            <a:ext cx="10629900" cy="264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8" name="Google Shape;118;p15"/>
          <p:cNvCxnSpPr/>
          <p:nvPr/>
        </p:nvCxnSpPr>
        <p:spPr>
          <a:xfrm>
            <a:off x="11189027" y="1885950"/>
            <a:ext cx="0" cy="3086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9" name="Google Shape;119;p15"/>
          <p:cNvCxnSpPr/>
          <p:nvPr/>
        </p:nvCxnSpPr>
        <p:spPr>
          <a:xfrm flipH="1">
            <a:off x="11136300" y="4890275"/>
            <a:ext cx="52800" cy="5090700"/>
          </a:xfrm>
          <a:prstGeom prst="straightConnector1">
            <a:avLst/>
          </a:prstGeom>
          <a:solidFill>
            <a:schemeClr val="lt2"/>
          </a:solidFill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0" name="Google Shape;120;p15"/>
          <p:cNvCxnSpPr/>
          <p:nvPr/>
        </p:nvCxnSpPr>
        <p:spPr>
          <a:xfrm flipH="1" rot="10800000">
            <a:off x="11109950" y="5285900"/>
            <a:ext cx="7121700" cy="264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6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26" name="Google Shape;126;p16"/>
          <p:cNvSpPr txBox="1"/>
          <p:nvPr/>
        </p:nvSpPr>
        <p:spPr>
          <a:xfrm>
            <a:off x="1028700" y="238851"/>
            <a:ext cx="10706391" cy="12051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929" u="none" cap="none" strike="noStrike">
                <a:solidFill>
                  <a:srgbClr val="D9D9D9"/>
                </a:solidFill>
                <a:latin typeface="VT323"/>
                <a:ea typeface="VT323"/>
                <a:cs typeface="VT323"/>
                <a:sym typeface="VT323"/>
              </a:rPr>
              <a:t>THE INNOVATION</a:t>
            </a:r>
            <a:endParaRPr/>
          </a:p>
        </p:txBody>
      </p:sp>
      <p:sp>
        <p:nvSpPr>
          <p:cNvPr id="127" name="Google Shape;127;p16"/>
          <p:cNvSpPr txBox="1"/>
          <p:nvPr/>
        </p:nvSpPr>
        <p:spPr>
          <a:xfrm>
            <a:off x="369275" y="1819475"/>
            <a:ext cx="9577500" cy="778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None/>
            </a:pPr>
            <a:r>
              <a:rPr b="1" lang="en-US" sz="4800" u="sng">
                <a:solidFill>
                  <a:schemeClr val="lt1"/>
                </a:solidFill>
                <a:latin typeface="VT323"/>
                <a:ea typeface="VT323"/>
                <a:cs typeface="VT323"/>
                <a:sym typeface="VT323"/>
              </a:rPr>
              <a:t>WHAT MAKES IT UNIQUE / ANTI-BORING</a:t>
            </a:r>
            <a:endParaRPr b="1" sz="4800" u="sng">
              <a:solidFill>
                <a:schemeClr val="lt1"/>
              </a:solidFill>
              <a:latin typeface="VT323"/>
              <a:ea typeface="VT323"/>
              <a:cs typeface="VT323"/>
              <a:sym typeface="VT323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lt1"/>
                </a:solidFill>
                <a:latin typeface="VT323"/>
                <a:ea typeface="VT323"/>
                <a:cs typeface="VT323"/>
                <a:sym typeface="VT323"/>
              </a:rPr>
              <a:t>Three aspects make the solution stand out:</a:t>
            </a:r>
            <a:endParaRPr sz="3600">
              <a:solidFill>
                <a:schemeClr val="lt1"/>
              </a:solidFill>
              <a:latin typeface="VT323"/>
              <a:ea typeface="VT323"/>
              <a:cs typeface="VT323"/>
              <a:sym typeface="VT323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US" sz="3800">
                <a:solidFill>
                  <a:schemeClr val="lt1"/>
                </a:solidFill>
                <a:latin typeface="VT323"/>
                <a:ea typeface="VT323"/>
                <a:cs typeface="VT323"/>
                <a:sym typeface="VT323"/>
              </a:rPr>
              <a:t>1. Predictive Healthcare</a:t>
            </a:r>
            <a:endParaRPr b="1" sz="3800">
              <a:solidFill>
                <a:schemeClr val="lt1"/>
              </a:solidFill>
              <a:latin typeface="VT323"/>
              <a:ea typeface="VT323"/>
              <a:cs typeface="VT323"/>
              <a:sym typeface="VT323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lt1"/>
                </a:solidFill>
                <a:latin typeface="VT323"/>
                <a:ea typeface="VT323"/>
                <a:cs typeface="VT323"/>
                <a:sym typeface="VT323"/>
              </a:rPr>
              <a:t>Moves from </a:t>
            </a:r>
            <a:r>
              <a:rPr b="1" lang="en-US" sz="3600">
                <a:solidFill>
                  <a:schemeClr val="lt1"/>
                </a:solidFill>
                <a:latin typeface="VT323"/>
                <a:ea typeface="VT323"/>
                <a:cs typeface="VT323"/>
                <a:sym typeface="VT323"/>
              </a:rPr>
              <a:t>reactive medicine → predictive medicine</a:t>
            </a:r>
            <a:endParaRPr b="1" sz="3600">
              <a:solidFill>
                <a:schemeClr val="lt1"/>
              </a:solidFill>
              <a:latin typeface="VT323"/>
              <a:ea typeface="VT323"/>
              <a:cs typeface="VT323"/>
              <a:sym typeface="VT323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US" sz="3800">
                <a:solidFill>
                  <a:schemeClr val="lt1"/>
                </a:solidFill>
                <a:latin typeface="VT323"/>
                <a:ea typeface="VT323"/>
                <a:cs typeface="VT323"/>
                <a:sym typeface="VT323"/>
              </a:rPr>
              <a:t>2. Real Clinical Data</a:t>
            </a:r>
            <a:endParaRPr b="1" sz="3800">
              <a:solidFill>
                <a:schemeClr val="lt1"/>
              </a:solidFill>
              <a:latin typeface="VT323"/>
              <a:ea typeface="VT323"/>
              <a:cs typeface="VT323"/>
              <a:sym typeface="VT323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lt1"/>
                </a:solidFill>
                <a:latin typeface="VT323"/>
                <a:ea typeface="VT323"/>
                <a:cs typeface="VT323"/>
                <a:sym typeface="VT323"/>
              </a:rPr>
              <a:t>The system is built using the </a:t>
            </a:r>
            <a:r>
              <a:rPr b="1" lang="en-US" sz="3600">
                <a:solidFill>
                  <a:schemeClr val="lt1"/>
                </a:solidFill>
                <a:latin typeface="VT323"/>
                <a:ea typeface="VT323"/>
                <a:cs typeface="VT323"/>
                <a:sym typeface="VT323"/>
              </a:rPr>
              <a:t>MIMIC-IV-ED dataset</a:t>
            </a:r>
            <a:r>
              <a:rPr lang="en-US" sz="3600">
                <a:solidFill>
                  <a:schemeClr val="lt1"/>
                </a:solidFill>
                <a:latin typeface="VT323"/>
                <a:ea typeface="VT323"/>
                <a:cs typeface="VT323"/>
                <a:sym typeface="VT323"/>
              </a:rPr>
              <a:t>, which contains real hospital patient records.</a:t>
            </a:r>
            <a:endParaRPr sz="3600">
              <a:solidFill>
                <a:schemeClr val="lt1"/>
              </a:solidFill>
              <a:latin typeface="VT323"/>
              <a:ea typeface="VT323"/>
              <a:cs typeface="VT323"/>
              <a:sym typeface="VT323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US" sz="3800">
                <a:solidFill>
                  <a:schemeClr val="lt1"/>
                </a:solidFill>
                <a:latin typeface="VT323"/>
                <a:ea typeface="VT323"/>
                <a:cs typeface="VT323"/>
                <a:sym typeface="VT323"/>
              </a:rPr>
              <a:t>3. Scalable Architecture</a:t>
            </a:r>
            <a:endParaRPr b="1" sz="3800">
              <a:solidFill>
                <a:schemeClr val="lt1"/>
              </a:solidFill>
              <a:latin typeface="VT323"/>
              <a:ea typeface="VT323"/>
              <a:cs typeface="VT323"/>
              <a:sym typeface="VT323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3600">
                <a:solidFill>
                  <a:schemeClr val="lt1"/>
                </a:solidFill>
                <a:latin typeface="VT323"/>
                <a:ea typeface="VT323"/>
                <a:cs typeface="VT323"/>
                <a:sym typeface="VT323"/>
              </a:rPr>
              <a:t>The system is designed to integrate with </a:t>
            </a:r>
            <a:r>
              <a:rPr b="1" lang="en-US" sz="3600">
                <a:solidFill>
                  <a:schemeClr val="lt1"/>
                </a:solidFill>
                <a:latin typeface="VT323"/>
                <a:ea typeface="VT323"/>
                <a:cs typeface="VT323"/>
                <a:sym typeface="VT323"/>
              </a:rPr>
              <a:t>hospital electronic health record systems</a:t>
            </a:r>
            <a:r>
              <a:rPr lang="en-US" sz="3600">
                <a:solidFill>
                  <a:schemeClr val="lt1"/>
                </a:solidFill>
                <a:latin typeface="VT323"/>
                <a:ea typeface="VT323"/>
                <a:cs typeface="VT323"/>
                <a:sym typeface="VT323"/>
              </a:rPr>
              <a:t>.</a:t>
            </a:r>
            <a:endParaRPr sz="6189">
              <a:solidFill>
                <a:schemeClr val="lt1"/>
              </a:solidFill>
              <a:latin typeface="VT323"/>
              <a:ea typeface="VT323"/>
              <a:cs typeface="VT323"/>
              <a:sym typeface="VT323"/>
            </a:endParaRPr>
          </a:p>
        </p:txBody>
      </p:sp>
      <p:pic>
        <p:nvPicPr>
          <p:cNvPr id="128" name="Google Shape;128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174676" y="1720600"/>
            <a:ext cx="7296158" cy="3030587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965575" y="4856850"/>
            <a:ext cx="5714374" cy="5430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7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5" name="Google Shape;135;p17"/>
          <p:cNvSpPr txBox="1"/>
          <p:nvPr/>
        </p:nvSpPr>
        <p:spPr>
          <a:xfrm>
            <a:off x="1104862" y="238851"/>
            <a:ext cx="12858930" cy="12051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929" u="none" cap="none" strike="noStrike">
                <a:solidFill>
                  <a:srgbClr val="D9D9D9"/>
                </a:solidFill>
                <a:latin typeface="VT323"/>
                <a:ea typeface="VT323"/>
                <a:cs typeface="VT323"/>
                <a:sym typeface="VT323"/>
              </a:rPr>
              <a:t>TECHNICAL DESCRIPTION</a:t>
            </a:r>
            <a:endParaRPr/>
          </a:p>
        </p:txBody>
      </p:sp>
      <p:sp>
        <p:nvSpPr>
          <p:cNvPr id="136" name="Google Shape;136;p17"/>
          <p:cNvSpPr txBox="1"/>
          <p:nvPr/>
        </p:nvSpPr>
        <p:spPr>
          <a:xfrm>
            <a:off x="556436" y="1924990"/>
            <a:ext cx="13614900" cy="8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14400" marR="0" rtl="0" algn="l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marR="0" rtl="0" algn="l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689" u="none" cap="none" strike="noStrike">
              <a:solidFill>
                <a:srgbClr val="D9D9D9"/>
              </a:solidFill>
              <a:latin typeface="VT323"/>
              <a:ea typeface="VT323"/>
              <a:cs typeface="VT323"/>
              <a:sym typeface="VT323"/>
            </a:endParaRPr>
          </a:p>
        </p:txBody>
      </p:sp>
      <p:graphicFrame>
        <p:nvGraphicFramePr>
          <p:cNvPr id="137" name="Google Shape;137;p17"/>
          <p:cNvGraphicFramePr/>
          <p:nvPr/>
        </p:nvGraphicFramePr>
        <p:xfrm>
          <a:off x="556425" y="18670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{E3AD02C6-73F4-4E86-B738-824DFAA2CBF0}</a:tableStyleId>
              </a:tblPr>
              <a:tblGrid>
                <a:gridCol w="3361675"/>
                <a:gridCol w="3797525"/>
              </a:tblGrid>
              <a:tr h="149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3000">
                          <a:solidFill>
                            <a:schemeClr val="lt1"/>
                          </a:solidFill>
                          <a:latin typeface="VT323"/>
                          <a:ea typeface="VT323"/>
                          <a:cs typeface="VT323"/>
                          <a:sym typeface="VT323"/>
                        </a:rPr>
                        <a:t>Category</a:t>
                      </a:r>
                      <a:endParaRPr b="1" sz="3000">
                        <a:solidFill>
                          <a:schemeClr val="lt1"/>
                        </a:solidFill>
                        <a:latin typeface="VT323"/>
                        <a:ea typeface="VT323"/>
                        <a:cs typeface="VT323"/>
                        <a:sym typeface="VT323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3000">
                          <a:solidFill>
                            <a:schemeClr val="lt1"/>
                          </a:solidFill>
                          <a:latin typeface="VT323"/>
                          <a:ea typeface="VT323"/>
                          <a:cs typeface="VT323"/>
                          <a:sym typeface="VT323"/>
                        </a:rPr>
                        <a:t>Technology</a:t>
                      </a:r>
                      <a:endParaRPr b="1" sz="3000">
                        <a:solidFill>
                          <a:schemeClr val="lt1"/>
                        </a:solidFill>
                        <a:latin typeface="VT323"/>
                        <a:ea typeface="VT323"/>
                        <a:cs typeface="VT323"/>
                        <a:sym typeface="VT323"/>
                      </a:endParaRPr>
                    </a:p>
                  </a:txBody>
                  <a:tcPr marT="91425" marB="91425" marR="91425" marL="91425"/>
                </a:tc>
              </a:tr>
              <a:tr h="149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>
                          <a:solidFill>
                            <a:schemeClr val="lt1"/>
                          </a:solidFill>
                          <a:latin typeface="VT323"/>
                          <a:ea typeface="VT323"/>
                          <a:cs typeface="VT323"/>
                          <a:sym typeface="VT323"/>
                        </a:rPr>
                        <a:t>Prog.Language</a:t>
                      </a:r>
                      <a:endParaRPr sz="2800">
                        <a:solidFill>
                          <a:schemeClr val="lt1"/>
                        </a:solidFill>
                        <a:latin typeface="VT323"/>
                        <a:ea typeface="VT323"/>
                        <a:cs typeface="VT323"/>
                        <a:sym typeface="VT323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>
                          <a:solidFill>
                            <a:schemeClr val="lt1"/>
                          </a:solidFill>
                          <a:latin typeface="VT323"/>
                          <a:ea typeface="VT323"/>
                          <a:cs typeface="VT323"/>
                          <a:sym typeface="VT323"/>
                        </a:rPr>
                        <a:t>Python</a:t>
                      </a:r>
                      <a:endParaRPr sz="2800">
                        <a:solidFill>
                          <a:schemeClr val="lt1"/>
                        </a:solidFill>
                        <a:latin typeface="VT323"/>
                        <a:ea typeface="VT323"/>
                        <a:cs typeface="VT323"/>
                        <a:sym typeface="VT323"/>
                      </a:endParaRPr>
                    </a:p>
                  </a:txBody>
                  <a:tcPr marT="91425" marB="91425" marR="91425" marL="91425"/>
                </a:tc>
              </a:tr>
              <a:tr h="149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>
                          <a:solidFill>
                            <a:schemeClr val="lt1"/>
                          </a:solidFill>
                          <a:latin typeface="VT323"/>
                          <a:ea typeface="VT323"/>
                          <a:cs typeface="VT323"/>
                          <a:sym typeface="VT323"/>
                        </a:rPr>
                        <a:t>Data Processing</a:t>
                      </a:r>
                      <a:endParaRPr sz="2800">
                        <a:solidFill>
                          <a:schemeClr val="lt1"/>
                        </a:solidFill>
                        <a:latin typeface="VT323"/>
                        <a:ea typeface="VT323"/>
                        <a:cs typeface="VT323"/>
                        <a:sym typeface="VT323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>
                          <a:solidFill>
                            <a:schemeClr val="lt1"/>
                          </a:solidFill>
                          <a:latin typeface="VT323"/>
                          <a:ea typeface="VT323"/>
                          <a:cs typeface="VT323"/>
                          <a:sym typeface="VT323"/>
                        </a:rPr>
                        <a:t>Pandas, NumPy</a:t>
                      </a:r>
                      <a:endParaRPr sz="2800">
                        <a:solidFill>
                          <a:schemeClr val="lt1"/>
                        </a:solidFill>
                        <a:latin typeface="VT323"/>
                        <a:ea typeface="VT323"/>
                        <a:cs typeface="VT323"/>
                        <a:sym typeface="VT323"/>
                      </a:endParaRPr>
                    </a:p>
                  </a:txBody>
                  <a:tcPr marT="91425" marB="91425" marR="91425" marL="91425"/>
                </a:tc>
              </a:tr>
              <a:tr h="149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>
                          <a:solidFill>
                            <a:schemeClr val="lt1"/>
                          </a:solidFill>
                          <a:latin typeface="VT323"/>
                          <a:ea typeface="VT323"/>
                          <a:cs typeface="VT323"/>
                          <a:sym typeface="VT323"/>
                        </a:rPr>
                        <a:t>Machine Learning</a:t>
                      </a:r>
                      <a:endParaRPr sz="2800">
                        <a:solidFill>
                          <a:schemeClr val="lt1"/>
                        </a:solidFill>
                        <a:latin typeface="VT323"/>
                        <a:ea typeface="VT323"/>
                        <a:cs typeface="VT323"/>
                        <a:sym typeface="VT323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>
                          <a:solidFill>
                            <a:schemeClr val="lt1"/>
                          </a:solidFill>
                          <a:latin typeface="VT323"/>
                          <a:ea typeface="VT323"/>
                          <a:cs typeface="VT323"/>
                          <a:sym typeface="VT323"/>
                        </a:rPr>
                        <a:t>Scikit-learn / XGBoost</a:t>
                      </a:r>
                      <a:endParaRPr sz="2800">
                        <a:solidFill>
                          <a:schemeClr val="lt1"/>
                        </a:solidFill>
                        <a:latin typeface="VT323"/>
                        <a:ea typeface="VT323"/>
                        <a:cs typeface="VT323"/>
                        <a:sym typeface="VT323"/>
                      </a:endParaRPr>
                    </a:p>
                  </a:txBody>
                  <a:tcPr marT="91425" marB="91425" marR="91425" marL="91425"/>
                </a:tc>
              </a:tr>
              <a:tr h="149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>
                          <a:solidFill>
                            <a:schemeClr val="lt1"/>
                          </a:solidFill>
                          <a:latin typeface="VT323"/>
                          <a:ea typeface="VT323"/>
                          <a:cs typeface="VT323"/>
                          <a:sym typeface="VT323"/>
                        </a:rPr>
                        <a:t>Visualization</a:t>
                      </a:r>
                      <a:endParaRPr sz="2800">
                        <a:solidFill>
                          <a:schemeClr val="lt1"/>
                        </a:solidFill>
                        <a:latin typeface="VT323"/>
                        <a:ea typeface="VT323"/>
                        <a:cs typeface="VT323"/>
                        <a:sym typeface="VT323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>
                          <a:solidFill>
                            <a:schemeClr val="lt1"/>
                          </a:solidFill>
                          <a:latin typeface="VT323"/>
                          <a:ea typeface="VT323"/>
                          <a:cs typeface="VT323"/>
                          <a:sym typeface="VT323"/>
                        </a:rPr>
                        <a:t>Streamlit</a:t>
                      </a:r>
                      <a:endParaRPr sz="2800">
                        <a:solidFill>
                          <a:schemeClr val="lt1"/>
                        </a:solidFill>
                        <a:latin typeface="VT323"/>
                        <a:ea typeface="VT323"/>
                        <a:cs typeface="VT323"/>
                        <a:sym typeface="VT323"/>
                      </a:endParaRPr>
                    </a:p>
                  </a:txBody>
                  <a:tcPr marT="91425" marB="91425" marR="91425" marL="91425"/>
                </a:tc>
              </a:tr>
              <a:tr h="149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>
                          <a:solidFill>
                            <a:schemeClr val="lt1"/>
                          </a:solidFill>
                          <a:latin typeface="VT323"/>
                          <a:ea typeface="VT323"/>
                          <a:cs typeface="VT323"/>
                          <a:sym typeface="VT323"/>
                        </a:rPr>
                        <a:t>Database</a:t>
                      </a:r>
                      <a:endParaRPr sz="2800">
                        <a:solidFill>
                          <a:schemeClr val="lt1"/>
                        </a:solidFill>
                        <a:latin typeface="VT323"/>
                        <a:ea typeface="VT323"/>
                        <a:cs typeface="VT323"/>
                        <a:sym typeface="VT323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>
                          <a:solidFill>
                            <a:schemeClr val="lt1"/>
                          </a:solidFill>
                          <a:latin typeface="VT323"/>
                          <a:ea typeface="VT323"/>
                          <a:cs typeface="VT323"/>
                          <a:sym typeface="VT323"/>
                        </a:rPr>
                        <a:t>PostgreSQL / BigQuery</a:t>
                      </a:r>
                      <a:endParaRPr sz="2800">
                        <a:solidFill>
                          <a:schemeClr val="lt1"/>
                        </a:solidFill>
                        <a:latin typeface="VT323"/>
                        <a:ea typeface="VT323"/>
                        <a:cs typeface="VT323"/>
                        <a:sym typeface="VT323"/>
                      </a:endParaRPr>
                    </a:p>
                  </a:txBody>
                  <a:tcPr marT="91425" marB="91425" marR="91425" marL="91425"/>
                </a:tc>
              </a:tr>
              <a:tr h="149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>
                          <a:solidFill>
                            <a:schemeClr val="lt1"/>
                          </a:solidFill>
                          <a:latin typeface="VT323"/>
                          <a:ea typeface="VT323"/>
                          <a:cs typeface="VT323"/>
                          <a:sym typeface="VT323"/>
                        </a:rPr>
                        <a:t>Dataset</a:t>
                      </a:r>
                      <a:endParaRPr sz="2800">
                        <a:solidFill>
                          <a:schemeClr val="lt1"/>
                        </a:solidFill>
                        <a:latin typeface="VT323"/>
                        <a:ea typeface="VT323"/>
                        <a:cs typeface="VT323"/>
                        <a:sym typeface="VT323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>
                          <a:solidFill>
                            <a:schemeClr val="lt1"/>
                          </a:solidFill>
                          <a:latin typeface="VT323"/>
                          <a:ea typeface="VT323"/>
                          <a:cs typeface="VT323"/>
                          <a:sym typeface="VT323"/>
                        </a:rPr>
                        <a:t>MIMIC-IV-ED Demo</a:t>
                      </a:r>
                      <a:endParaRPr sz="2800">
                        <a:solidFill>
                          <a:schemeClr val="lt1"/>
                        </a:solidFill>
                        <a:latin typeface="VT323"/>
                        <a:ea typeface="VT323"/>
                        <a:cs typeface="VT323"/>
                        <a:sym typeface="VT323"/>
                      </a:endParaRPr>
                    </a:p>
                  </a:txBody>
                  <a:tcPr marT="91425" marB="91425" marR="91425" marL="91425"/>
                </a:tc>
              </a:tr>
              <a:tr h="149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>
                          <a:solidFill>
                            <a:schemeClr val="lt1"/>
                          </a:solidFill>
                          <a:latin typeface="VT323"/>
                          <a:ea typeface="VT323"/>
                          <a:cs typeface="VT323"/>
                          <a:sym typeface="VT323"/>
                        </a:rPr>
                        <a:t>Deployment</a:t>
                      </a:r>
                      <a:endParaRPr sz="2800">
                        <a:solidFill>
                          <a:schemeClr val="lt1"/>
                        </a:solidFill>
                        <a:latin typeface="VT323"/>
                        <a:ea typeface="VT323"/>
                        <a:cs typeface="VT323"/>
                        <a:sym typeface="VT323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>
                          <a:solidFill>
                            <a:schemeClr val="lt1"/>
                          </a:solidFill>
                          <a:latin typeface="VT323"/>
                          <a:ea typeface="VT323"/>
                          <a:cs typeface="VT323"/>
                          <a:sym typeface="VT323"/>
                        </a:rPr>
                        <a:t>Docker / Cloud</a:t>
                      </a:r>
                      <a:endParaRPr sz="2800">
                        <a:solidFill>
                          <a:schemeClr val="lt1"/>
                        </a:solidFill>
                        <a:latin typeface="VT323"/>
                        <a:ea typeface="VT323"/>
                        <a:cs typeface="VT323"/>
                        <a:sym typeface="VT323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38" name="Google Shape;138;p17"/>
          <p:cNvSpPr txBox="1"/>
          <p:nvPr/>
        </p:nvSpPr>
        <p:spPr>
          <a:xfrm>
            <a:off x="9885875" y="1709163"/>
            <a:ext cx="9066600" cy="522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3400" u="sng">
                <a:solidFill>
                  <a:schemeClr val="lt1"/>
                </a:solidFill>
                <a:latin typeface="VT323"/>
                <a:ea typeface="VT323"/>
                <a:cs typeface="VT323"/>
                <a:sym typeface="VT323"/>
              </a:rPr>
              <a:t>System Components</a:t>
            </a:r>
            <a:endParaRPr b="1" sz="3400" u="sng">
              <a:solidFill>
                <a:schemeClr val="lt1"/>
              </a:solidFill>
              <a:latin typeface="VT323"/>
              <a:ea typeface="VT323"/>
              <a:cs typeface="VT323"/>
              <a:sym typeface="VT323"/>
            </a:endParaRPr>
          </a:p>
          <a:p>
            <a:pPr indent="-4064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VT323"/>
              <a:buAutoNum type="arabicPeriod"/>
            </a:pPr>
            <a:r>
              <a:rPr b="1" lang="en-US" sz="2800">
                <a:solidFill>
                  <a:schemeClr val="lt1"/>
                </a:solidFill>
                <a:latin typeface="VT323"/>
                <a:ea typeface="VT323"/>
                <a:cs typeface="VT323"/>
                <a:sym typeface="VT323"/>
              </a:rPr>
              <a:t>Data Ingestion Layer</a:t>
            </a:r>
            <a:br>
              <a:rPr b="1" lang="en-US" sz="2800">
                <a:solidFill>
                  <a:schemeClr val="lt1"/>
                </a:solidFill>
                <a:latin typeface="VT323"/>
                <a:ea typeface="VT323"/>
                <a:cs typeface="VT323"/>
                <a:sym typeface="VT323"/>
              </a:rPr>
            </a:br>
            <a:r>
              <a:rPr lang="en-US" sz="2800">
                <a:solidFill>
                  <a:schemeClr val="lt1"/>
                </a:solidFill>
                <a:latin typeface="VT323"/>
                <a:ea typeface="VT323"/>
                <a:cs typeface="VT323"/>
                <a:sym typeface="VT323"/>
              </a:rPr>
              <a:t>Imports clinical data from MIMIC dataset.</a:t>
            </a:r>
            <a:endParaRPr sz="3100">
              <a:solidFill>
                <a:schemeClr val="lt1"/>
              </a:solidFill>
              <a:latin typeface="VT323"/>
              <a:ea typeface="VT323"/>
              <a:cs typeface="VT323"/>
              <a:sym typeface="VT323"/>
            </a:endParaRPr>
          </a:p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VT323"/>
              <a:buAutoNum type="arabicPeriod"/>
            </a:pPr>
            <a:r>
              <a:rPr b="1" lang="en-US" sz="2800">
                <a:solidFill>
                  <a:schemeClr val="lt1"/>
                </a:solidFill>
                <a:latin typeface="VT323"/>
                <a:ea typeface="VT323"/>
                <a:cs typeface="VT323"/>
                <a:sym typeface="VT323"/>
              </a:rPr>
              <a:t>Feature Engineering Layer</a:t>
            </a:r>
            <a:br>
              <a:rPr b="1" lang="en-US" sz="2800">
                <a:solidFill>
                  <a:schemeClr val="lt1"/>
                </a:solidFill>
                <a:latin typeface="VT323"/>
                <a:ea typeface="VT323"/>
                <a:cs typeface="VT323"/>
                <a:sym typeface="VT323"/>
              </a:rPr>
            </a:br>
            <a:r>
              <a:rPr lang="en-US" sz="2800">
                <a:solidFill>
                  <a:schemeClr val="lt1"/>
                </a:solidFill>
                <a:latin typeface="VT323"/>
                <a:ea typeface="VT323"/>
                <a:cs typeface="VT323"/>
                <a:sym typeface="VT323"/>
              </a:rPr>
              <a:t>Processes vital signs into ML features.</a:t>
            </a:r>
            <a:endParaRPr sz="2800">
              <a:solidFill>
                <a:schemeClr val="lt1"/>
              </a:solidFill>
              <a:latin typeface="VT323"/>
              <a:ea typeface="VT323"/>
              <a:cs typeface="VT323"/>
              <a:sym typeface="VT323"/>
            </a:endParaRPr>
          </a:p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VT323"/>
              <a:buAutoNum type="arabicPeriod"/>
            </a:pPr>
            <a:r>
              <a:rPr b="1" lang="en-US" sz="2800">
                <a:solidFill>
                  <a:schemeClr val="lt1"/>
                </a:solidFill>
                <a:latin typeface="VT323"/>
                <a:ea typeface="VT323"/>
                <a:cs typeface="VT323"/>
                <a:sym typeface="VT323"/>
              </a:rPr>
              <a:t>Prediction Engine</a:t>
            </a:r>
            <a:br>
              <a:rPr b="1" lang="en-US" sz="2800">
                <a:solidFill>
                  <a:schemeClr val="lt1"/>
                </a:solidFill>
                <a:latin typeface="VT323"/>
                <a:ea typeface="VT323"/>
                <a:cs typeface="VT323"/>
                <a:sym typeface="VT323"/>
              </a:rPr>
            </a:br>
            <a:r>
              <a:rPr lang="en-US" sz="2800">
                <a:solidFill>
                  <a:schemeClr val="lt1"/>
                </a:solidFill>
                <a:latin typeface="VT323"/>
                <a:ea typeface="VT323"/>
                <a:cs typeface="VT323"/>
                <a:sym typeface="VT323"/>
              </a:rPr>
              <a:t>Machine learning model predicts risk score.</a:t>
            </a:r>
            <a:endParaRPr sz="2800">
              <a:solidFill>
                <a:schemeClr val="lt1"/>
              </a:solidFill>
              <a:latin typeface="VT323"/>
              <a:ea typeface="VT323"/>
              <a:cs typeface="VT323"/>
              <a:sym typeface="VT323"/>
            </a:endParaRPr>
          </a:p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VT323"/>
              <a:buAutoNum type="arabicPeriod"/>
            </a:pPr>
            <a:r>
              <a:rPr b="1" lang="en-US" sz="2800">
                <a:solidFill>
                  <a:schemeClr val="lt1"/>
                </a:solidFill>
                <a:latin typeface="VT323"/>
                <a:ea typeface="VT323"/>
                <a:cs typeface="VT323"/>
                <a:sym typeface="VT323"/>
              </a:rPr>
              <a:t>Alert System</a:t>
            </a:r>
            <a:br>
              <a:rPr b="1" lang="en-US" sz="2800">
                <a:solidFill>
                  <a:schemeClr val="lt1"/>
                </a:solidFill>
                <a:latin typeface="VT323"/>
                <a:ea typeface="VT323"/>
                <a:cs typeface="VT323"/>
                <a:sym typeface="VT323"/>
              </a:rPr>
            </a:br>
            <a:r>
              <a:rPr lang="en-US" sz="2800">
                <a:solidFill>
                  <a:schemeClr val="lt1"/>
                </a:solidFill>
                <a:latin typeface="VT323"/>
                <a:ea typeface="VT323"/>
                <a:cs typeface="VT323"/>
                <a:sym typeface="VT323"/>
              </a:rPr>
              <a:t>Generates alerts if risk crosses threshold.</a:t>
            </a:r>
            <a:endParaRPr sz="2800">
              <a:solidFill>
                <a:schemeClr val="lt1"/>
              </a:solidFill>
              <a:latin typeface="VT323"/>
              <a:ea typeface="VT323"/>
              <a:cs typeface="VT323"/>
              <a:sym typeface="VT323"/>
            </a:endParaRPr>
          </a:p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VT323"/>
              <a:buAutoNum type="arabicPeriod"/>
            </a:pPr>
            <a:r>
              <a:rPr b="1" lang="en-US" sz="2800">
                <a:solidFill>
                  <a:schemeClr val="lt1"/>
                </a:solidFill>
                <a:latin typeface="VT323"/>
                <a:ea typeface="VT323"/>
                <a:cs typeface="VT323"/>
                <a:sym typeface="VT323"/>
              </a:rPr>
              <a:t>Visualization Dashboard</a:t>
            </a:r>
            <a:br>
              <a:rPr b="1" lang="en-US" sz="2800">
                <a:solidFill>
                  <a:schemeClr val="lt1"/>
                </a:solidFill>
                <a:latin typeface="VT323"/>
                <a:ea typeface="VT323"/>
                <a:cs typeface="VT323"/>
                <a:sym typeface="VT323"/>
              </a:rPr>
            </a:br>
            <a:r>
              <a:rPr lang="en-US" sz="2800">
                <a:solidFill>
                  <a:schemeClr val="lt1"/>
                </a:solidFill>
                <a:latin typeface="VT323"/>
                <a:ea typeface="VT323"/>
                <a:cs typeface="VT323"/>
                <a:sym typeface="VT323"/>
              </a:rPr>
              <a:t>Displays patient data and predictions.</a:t>
            </a:r>
            <a:endParaRPr sz="4900">
              <a:solidFill>
                <a:schemeClr val="lt1"/>
              </a:solidFill>
              <a:latin typeface="VT323"/>
              <a:ea typeface="VT323"/>
              <a:cs typeface="VT323"/>
              <a:sym typeface="VT323"/>
            </a:endParaRPr>
          </a:p>
        </p:txBody>
      </p:sp>
      <p:sp>
        <p:nvSpPr>
          <p:cNvPr id="139" name="Google Shape;139;p17"/>
          <p:cNvSpPr/>
          <p:nvPr/>
        </p:nvSpPr>
        <p:spPr>
          <a:xfrm>
            <a:off x="2647008" y="8512776"/>
            <a:ext cx="706800" cy="73800"/>
          </a:xfrm>
          <a:prstGeom prst="roundRect">
            <a:avLst>
              <a:gd fmla="val 50000" name="adj"/>
            </a:avLst>
          </a:prstGeom>
          <a:solidFill>
            <a:srgbClr val="A7291E"/>
          </a:soli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40" name="Google Shape;140;p17"/>
          <p:cNvGrpSpPr/>
          <p:nvPr/>
        </p:nvGrpSpPr>
        <p:grpSpPr>
          <a:xfrm>
            <a:off x="456131" y="7948196"/>
            <a:ext cx="2620800" cy="2300350"/>
            <a:chOff x="519878" y="1948510"/>
            <a:chExt cx="1310400" cy="1150175"/>
          </a:xfrm>
        </p:grpSpPr>
        <p:sp>
          <p:nvSpPr>
            <p:cNvPr id="141" name="Google Shape;141;p17"/>
            <p:cNvSpPr/>
            <p:nvPr/>
          </p:nvSpPr>
          <p:spPr>
            <a:xfrm>
              <a:off x="877947" y="1948510"/>
              <a:ext cx="594300" cy="594300"/>
            </a:xfrm>
            <a:prstGeom prst="ellipse">
              <a:avLst/>
            </a:prstGeom>
            <a:noFill/>
            <a:ln cap="flat" cmpd="sng" w="76200">
              <a:solidFill>
                <a:srgbClr val="A7291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" name="Google Shape;142;p17"/>
            <p:cNvSpPr txBox="1"/>
            <p:nvPr/>
          </p:nvSpPr>
          <p:spPr>
            <a:xfrm>
              <a:off x="956697" y="2109685"/>
              <a:ext cx="436800" cy="32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82850" lIns="182850" spcFirstLastPara="1" rIns="182850" wrap="square" tIns="182850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3200"/>
                </a:spcAft>
                <a:buNone/>
              </a:pPr>
              <a:r>
                <a:rPr b="1" lang="en-US" sz="1600">
                  <a:solidFill>
                    <a:srgbClr val="A7291E"/>
                  </a:solidFill>
                  <a:latin typeface="Roboto"/>
                  <a:ea typeface="Roboto"/>
                  <a:cs typeface="Roboto"/>
                  <a:sym typeface="Roboto"/>
                </a:rPr>
                <a:t>1</a:t>
              </a:r>
              <a:endParaRPr b="1" sz="1600">
                <a:solidFill>
                  <a:srgbClr val="A7291E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43" name="Google Shape;143;p17"/>
            <p:cNvSpPr txBox="1"/>
            <p:nvPr/>
          </p:nvSpPr>
          <p:spPr>
            <a:xfrm>
              <a:off x="519878" y="2652285"/>
              <a:ext cx="1310400" cy="44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182850" lIns="182850" spcFirstLastPara="1" rIns="182850" wrap="square" tIns="182850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000">
                  <a:solidFill>
                    <a:srgbClr val="A7291E"/>
                  </a:solidFill>
                  <a:latin typeface="Roboto"/>
                  <a:ea typeface="Roboto"/>
                  <a:cs typeface="Roboto"/>
                  <a:sym typeface="Roboto"/>
                </a:rPr>
                <a:t>Clinical Data (Vitals, Triage)</a:t>
              </a:r>
              <a:endParaRPr b="1" sz="2000">
                <a:solidFill>
                  <a:srgbClr val="A7291E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44" name="Google Shape;144;p17"/>
          <p:cNvGrpSpPr/>
          <p:nvPr/>
        </p:nvGrpSpPr>
        <p:grpSpPr>
          <a:xfrm>
            <a:off x="2865956" y="7986646"/>
            <a:ext cx="2620800" cy="2300350"/>
            <a:chOff x="1848940" y="1948510"/>
            <a:chExt cx="1310400" cy="1150175"/>
          </a:xfrm>
        </p:grpSpPr>
        <p:sp>
          <p:nvSpPr>
            <p:cNvPr id="145" name="Google Shape;145;p17"/>
            <p:cNvSpPr/>
            <p:nvPr/>
          </p:nvSpPr>
          <p:spPr>
            <a:xfrm>
              <a:off x="2206990" y="1948510"/>
              <a:ext cx="594300" cy="594300"/>
            </a:xfrm>
            <a:prstGeom prst="ellipse">
              <a:avLst/>
            </a:prstGeom>
            <a:noFill/>
            <a:ln cap="flat" cmpd="sng" w="76200">
              <a:solidFill>
                <a:srgbClr val="A7291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" name="Google Shape;146;p17"/>
            <p:cNvSpPr txBox="1"/>
            <p:nvPr/>
          </p:nvSpPr>
          <p:spPr>
            <a:xfrm>
              <a:off x="1848940" y="2652285"/>
              <a:ext cx="1310400" cy="44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182850" lIns="182850" spcFirstLastPara="1" rIns="182850" wrap="square" tIns="182850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000">
                  <a:solidFill>
                    <a:srgbClr val="A7291E"/>
                  </a:solidFill>
                  <a:latin typeface="Roboto"/>
                  <a:ea typeface="Roboto"/>
                  <a:cs typeface="Roboto"/>
                  <a:sym typeface="Roboto"/>
                </a:rPr>
                <a:t>Data Processing Pipeline</a:t>
              </a:r>
              <a:endParaRPr b="1" sz="2000">
                <a:solidFill>
                  <a:srgbClr val="A7291E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47" name="Google Shape;147;p17"/>
            <p:cNvSpPr txBox="1"/>
            <p:nvPr/>
          </p:nvSpPr>
          <p:spPr>
            <a:xfrm>
              <a:off x="2285740" y="2109685"/>
              <a:ext cx="436800" cy="32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82850" lIns="182850" spcFirstLastPara="1" rIns="182850" wrap="square" tIns="182850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3200"/>
                </a:spcAft>
                <a:buNone/>
              </a:pPr>
              <a:r>
                <a:rPr b="1" lang="en-US" sz="1600">
                  <a:solidFill>
                    <a:srgbClr val="A7291E"/>
                  </a:solidFill>
                  <a:latin typeface="Roboto"/>
                  <a:ea typeface="Roboto"/>
                  <a:cs typeface="Roboto"/>
                  <a:sym typeface="Roboto"/>
                </a:rPr>
                <a:t>2</a:t>
              </a:r>
              <a:endParaRPr b="1" sz="16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48" name="Google Shape;148;p17"/>
          <p:cNvGrpSpPr/>
          <p:nvPr/>
        </p:nvGrpSpPr>
        <p:grpSpPr>
          <a:xfrm>
            <a:off x="5449426" y="7986646"/>
            <a:ext cx="2719800" cy="2300350"/>
            <a:chOff x="3178034" y="1948510"/>
            <a:chExt cx="1359900" cy="1150175"/>
          </a:xfrm>
        </p:grpSpPr>
        <p:sp>
          <p:nvSpPr>
            <p:cNvPr id="149" name="Google Shape;149;p17"/>
            <p:cNvSpPr/>
            <p:nvPr/>
          </p:nvSpPr>
          <p:spPr>
            <a:xfrm>
              <a:off x="3560827" y="1948510"/>
              <a:ext cx="594300" cy="594300"/>
            </a:xfrm>
            <a:prstGeom prst="ellipse">
              <a:avLst/>
            </a:prstGeom>
            <a:noFill/>
            <a:ln cap="flat" cmpd="sng" w="76200">
              <a:solidFill>
                <a:srgbClr val="85858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888888"/>
                </a:solidFill>
              </a:endParaRPr>
            </a:p>
          </p:txBody>
        </p:sp>
        <p:sp>
          <p:nvSpPr>
            <p:cNvPr id="150" name="Google Shape;150;p17"/>
            <p:cNvSpPr txBox="1"/>
            <p:nvPr/>
          </p:nvSpPr>
          <p:spPr>
            <a:xfrm>
              <a:off x="3178034" y="2652285"/>
              <a:ext cx="1359900" cy="44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182850" lIns="182850" spcFirstLastPara="1" rIns="182850" wrap="square" tIns="182850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000">
                  <a:solidFill>
                    <a:srgbClr val="888888"/>
                  </a:solidFill>
                  <a:latin typeface="Roboto"/>
                  <a:ea typeface="Roboto"/>
                  <a:cs typeface="Roboto"/>
                  <a:sym typeface="Roboto"/>
                </a:rPr>
                <a:t>Feature Engineering</a:t>
              </a:r>
              <a:endParaRPr b="1" sz="2000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51" name="Google Shape;151;p17"/>
            <p:cNvSpPr txBox="1"/>
            <p:nvPr/>
          </p:nvSpPr>
          <p:spPr>
            <a:xfrm>
              <a:off x="3639577" y="2109685"/>
              <a:ext cx="436800" cy="32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82850" lIns="182850" spcFirstLastPara="1" rIns="182850" wrap="square" tIns="182850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3200"/>
                </a:spcAft>
                <a:buNone/>
              </a:pPr>
              <a:r>
                <a:rPr b="1" lang="en-US" sz="1600">
                  <a:solidFill>
                    <a:srgbClr val="888888"/>
                  </a:solidFill>
                  <a:latin typeface="Roboto"/>
                  <a:ea typeface="Roboto"/>
                  <a:cs typeface="Roboto"/>
                  <a:sym typeface="Roboto"/>
                </a:rPr>
                <a:t>3</a:t>
              </a:r>
              <a:endParaRPr b="1" sz="1600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52" name="Google Shape;152;p17"/>
          <p:cNvGrpSpPr/>
          <p:nvPr/>
        </p:nvGrpSpPr>
        <p:grpSpPr>
          <a:xfrm>
            <a:off x="8005345" y="7986646"/>
            <a:ext cx="2620800" cy="2300350"/>
            <a:chOff x="4557650" y="1948510"/>
            <a:chExt cx="1310400" cy="1150175"/>
          </a:xfrm>
        </p:grpSpPr>
        <p:sp>
          <p:nvSpPr>
            <p:cNvPr id="153" name="Google Shape;153;p17"/>
            <p:cNvSpPr/>
            <p:nvPr/>
          </p:nvSpPr>
          <p:spPr>
            <a:xfrm>
              <a:off x="4915703" y="1948510"/>
              <a:ext cx="594300" cy="594300"/>
            </a:xfrm>
            <a:prstGeom prst="ellipse">
              <a:avLst/>
            </a:prstGeom>
            <a:noFill/>
            <a:ln cap="flat" cmpd="sng" w="76200">
              <a:solidFill>
                <a:srgbClr val="85858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" name="Google Shape;154;p17"/>
            <p:cNvSpPr txBox="1"/>
            <p:nvPr/>
          </p:nvSpPr>
          <p:spPr>
            <a:xfrm>
              <a:off x="4557650" y="2652285"/>
              <a:ext cx="1310400" cy="44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182850" lIns="182850" spcFirstLastPara="1" rIns="182850" wrap="square" tIns="182850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000">
                  <a:solidFill>
                    <a:srgbClr val="858585"/>
                  </a:solidFill>
                  <a:latin typeface="Roboto"/>
                  <a:ea typeface="Roboto"/>
                  <a:cs typeface="Roboto"/>
                  <a:sym typeface="Roboto"/>
                </a:rPr>
                <a:t>Machine Learning Model</a:t>
              </a:r>
              <a:endParaRPr b="1" sz="2000">
                <a:solidFill>
                  <a:srgbClr val="858585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55" name="Google Shape;155;p17"/>
            <p:cNvSpPr txBox="1"/>
            <p:nvPr/>
          </p:nvSpPr>
          <p:spPr>
            <a:xfrm>
              <a:off x="4994453" y="2109685"/>
              <a:ext cx="436800" cy="32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82850" lIns="182850" spcFirstLastPara="1" rIns="182850" wrap="square" tIns="182850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3200"/>
                </a:spcAft>
                <a:buNone/>
              </a:pPr>
              <a:r>
                <a:rPr b="1" lang="en-US" sz="1600">
                  <a:solidFill>
                    <a:srgbClr val="858585"/>
                  </a:solidFill>
                  <a:latin typeface="Roboto"/>
                  <a:ea typeface="Roboto"/>
                  <a:cs typeface="Roboto"/>
                  <a:sym typeface="Roboto"/>
                </a:rPr>
                <a:t>4</a:t>
              </a:r>
              <a:endParaRPr b="1" sz="1600">
                <a:solidFill>
                  <a:srgbClr val="858585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56" name="Google Shape;156;p17"/>
          <p:cNvGrpSpPr/>
          <p:nvPr/>
        </p:nvGrpSpPr>
        <p:grpSpPr>
          <a:xfrm>
            <a:off x="10531622" y="7986646"/>
            <a:ext cx="2719800" cy="2300350"/>
            <a:chOff x="5887800" y="1948510"/>
            <a:chExt cx="1359900" cy="1150175"/>
          </a:xfrm>
        </p:grpSpPr>
        <p:sp>
          <p:nvSpPr>
            <p:cNvPr id="157" name="Google Shape;157;p17"/>
            <p:cNvSpPr/>
            <p:nvPr/>
          </p:nvSpPr>
          <p:spPr>
            <a:xfrm>
              <a:off x="6270606" y="1948510"/>
              <a:ext cx="594300" cy="594300"/>
            </a:xfrm>
            <a:prstGeom prst="ellipse">
              <a:avLst/>
            </a:prstGeom>
            <a:noFill/>
            <a:ln cap="flat" cmpd="sng" w="76200">
              <a:solidFill>
                <a:srgbClr val="85858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" name="Google Shape;158;p17"/>
            <p:cNvSpPr txBox="1"/>
            <p:nvPr/>
          </p:nvSpPr>
          <p:spPr>
            <a:xfrm>
              <a:off x="5887800" y="2652285"/>
              <a:ext cx="1359900" cy="44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182850" lIns="182850" spcFirstLastPara="1" rIns="182850" wrap="square" tIns="182850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000">
                  <a:solidFill>
                    <a:srgbClr val="858585"/>
                  </a:solidFill>
                  <a:latin typeface="Roboto"/>
                  <a:ea typeface="Roboto"/>
                  <a:cs typeface="Roboto"/>
                  <a:sym typeface="Roboto"/>
                </a:rPr>
                <a:t>Risk Score Prediction</a:t>
              </a:r>
              <a:endParaRPr b="1" sz="2000">
                <a:solidFill>
                  <a:srgbClr val="858585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59" name="Google Shape;159;p17"/>
            <p:cNvSpPr txBox="1"/>
            <p:nvPr/>
          </p:nvSpPr>
          <p:spPr>
            <a:xfrm>
              <a:off x="6349356" y="2109685"/>
              <a:ext cx="436800" cy="32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82850" lIns="182850" spcFirstLastPara="1" rIns="182850" wrap="square" tIns="182850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3200"/>
                </a:spcAft>
                <a:buNone/>
              </a:pPr>
              <a:r>
                <a:rPr b="1" lang="en-US" sz="1600">
                  <a:solidFill>
                    <a:srgbClr val="858585"/>
                  </a:solidFill>
                  <a:latin typeface="Roboto"/>
                  <a:ea typeface="Roboto"/>
                  <a:cs typeface="Roboto"/>
                  <a:sym typeface="Roboto"/>
                </a:rPr>
                <a:t>5</a:t>
              </a:r>
              <a:endParaRPr b="1" sz="1600">
                <a:solidFill>
                  <a:srgbClr val="858585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160" name="Google Shape;160;p17"/>
          <p:cNvSpPr/>
          <p:nvPr/>
        </p:nvSpPr>
        <p:spPr>
          <a:xfrm>
            <a:off x="5217394" y="8539149"/>
            <a:ext cx="706800" cy="73800"/>
          </a:xfrm>
          <a:prstGeom prst="roundRect">
            <a:avLst>
              <a:gd fmla="val 50000" name="adj"/>
            </a:avLst>
          </a:prstGeom>
          <a:solidFill>
            <a:srgbClr val="858585"/>
          </a:soli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17"/>
          <p:cNvSpPr/>
          <p:nvPr/>
        </p:nvSpPr>
        <p:spPr>
          <a:xfrm>
            <a:off x="7715631" y="8591903"/>
            <a:ext cx="706800" cy="73800"/>
          </a:xfrm>
          <a:prstGeom prst="roundRect">
            <a:avLst>
              <a:gd fmla="val 50000" name="adj"/>
            </a:avLst>
          </a:prstGeom>
          <a:solidFill>
            <a:srgbClr val="858585"/>
          </a:soli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17"/>
          <p:cNvSpPr/>
          <p:nvPr/>
        </p:nvSpPr>
        <p:spPr>
          <a:xfrm>
            <a:off x="10288130" y="8539149"/>
            <a:ext cx="706800" cy="73800"/>
          </a:xfrm>
          <a:prstGeom prst="roundRect">
            <a:avLst>
              <a:gd fmla="val 50000" name="adj"/>
            </a:avLst>
          </a:prstGeom>
          <a:solidFill>
            <a:srgbClr val="858585"/>
          </a:soli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17"/>
          <p:cNvSpPr/>
          <p:nvPr/>
        </p:nvSpPr>
        <p:spPr>
          <a:xfrm>
            <a:off x="12746961" y="8586573"/>
            <a:ext cx="706800" cy="73800"/>
          </a:xfrm>
          <a:prstGeom prst="roundRect">
            <a:avLst>
              <a:gd fmla="val 50000" name="adj"/>
            </a:avLst>
          </a:prstGeom>
          <a:solidFill>
            <a:srgbClr val="858585"/>
          </a:soli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64" name="Google Shape;164;p17"/>
          <p:cNvGrpSpPr/>
          <p:nvPr/>
        </p:nvGrpSpPr>
        <p:grpSpPr>
          <a:xfrm>
            <a:off x="12904131" y="7948196"/>
            <a:ext cx="2719800" cy="2300350"/>
            <a:chOff x="7264213" y="1948510"/>
            <a:chExt cx="1359900" cy="1150175"/>
          </a:xfrm>
        </p:grpSpPr>
        <p:sp>
          <p:nvSpPr>
            <p:cNvPr id="165" name="Google Shape;165;p17"/>
            <p:cNvSpPr/>
            <p:nvPr/>
          </p:nvSpPr>
          <p:spPr>
            <a:xfrm>
              <a:off x="7647018" y="1948510"/>
              <a:ext cx="594300" cy="594300"/>
            </a:xfrm>
            <a:prstGeom prst="ellipse">
              <a:avLst/>
            </a:prstGeom>
            <a:noFill/>
            <a:ln cap="flat" cmpd="sng" w="76200">
              <a:solidFill>
                <a:srgbClr val="85858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" name="Google Shape;166;p17"/>
            <p:cNvSpPr txBox="1"/>
            <p:nvPr/>
          </p:nvSpPr>
          <p:spPr>
            <a:xfrm>
              <a:off x="7264213" y="2652285"/>
              <a:ext cx="1359900" cy="44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182850" lIns="182850" spcFirstLastPara="1" rIns="182850" wrap="square" tIns="182850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000">
                  <a:solidFill>
                    <a:srgbClr val="858585"/>
                  </a:solidFill>
                  <a:latin typeface="Roboto"/>
                  <a:ea typeface="Roboto"/>
                  <a:cs typeface="Roboto"/>
                  <a:sym typeface="Roboto"/>
                </a:rPr>
                <a:t>Alert + Dashboard</a:t>
              </a:r>
              <a:endParaRPr b="1" sz="2000">
                <a:solidFill>
                  <a:srgbClr val="858585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67" name="Google Shape;167;p17"/>
            <p:cNvSpPr txBox="1"/>
            <p:nvPr/>
          </p:nvSpPr>
          <p:spPr>
            <a:xfrm>
              <a:off x="7725768" y="2109685"/>
              <a:ext cx="436800" cy="32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82850" lIns="182850" spcFirstLastPara="1" rIns="182850" wrap="square" tIns="182850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3200"/>
                </a:spcAft>
                <a:buNone/>
              </a:pPr>
              <a:r>
                <a:rPr b="1" lang="en-US" sz="1600">
                  <a:solidFill>
                    <a:srgbClr val="858585"/>
                  </a:solidFill>
                  <a:latin typeface="Roboto"/>
                  <a:ea typeface="Roboto"/>
                  <a:cs typeface="Roboto"/>
                  <a:sym typeface="Roboto"/>
                </a:rPr>
                <a:t>6</a:t>
              </a:r>
              <a:endParaRPr b="1" sz="1600">
                <a:solidFill>
                  <a:srgbClr val="858585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168" name="Google Shape;168;p17"/>
          <p:cNvSpPr txBox="1"/>
          <p:nvPr/>
        </p:nvSpPr>
        <p:spPr>
          <a:xfrm>
            <a:off x="927100" y="7087950"/>
            <a:ext cx="24267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89" u="sng">
                <a:solidFill>
                  <a:srgbClr val="D9D9D9"/>
                </a:solidFill>
                <a:latin typeface="VT323"/>
                <a:ea typeface="VT323"/>
                <a:cs typeface="VT323"/>
                <a:sym typeface="VT323"/>
              </a:rPr>
              <a:t>DATA FLOW</a:t>
            </a:r>
            <a:endParaRPr sz="3200" u="sng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8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74" name="Google Shape;174;p18"/>
          <p:cNvSpPr txBox="1"/>
          <p:nvPr/>
        </p:nvSpPr>
        <p:spPr>
          <a:xfrm>
            <a:off x="128550" y="274325"/>
            <a:ext cx="8886900" cy="106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929" u="none" cap="none" strike="noStrike">
                <a:solidFill>
                  <a:srgbClr val="D9D9D9"/>
                </a:solidFill>
                <a:latin typeface="VT323"/>
                <a:ea typeface="VT323"/>
                <a:cs typeface="VT323"/>
                <a:sym typeface="VT323"/>
              </a:rPr>
              <a:t>IMPACT &amp; BENEFITS</a:t>
            </a:r>
            <a:endParaRPr/>
          </a:p>
        </p:txBody>
      </p:sp>
      <p:sp>
        <p:nvSpPr>
          <p:cNvPr id="175" name="Google Shape;175;p18"/>
          <p:cNvSpPr txBox="1"/>
          <p:nvPr/>
        </p:nvSpPr>
        <p:spPr>
          <a:xfrm>
            <a:off x="128550" y="1662675"/>
            <a:ext cx="9675300" cy="407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4000" u="sng">
                <a:solidFill>
                  <a:schemeClr val="lt1"/>
                </a:solidFill>
                <a:latin typeface="VT323"/>
                <a:ea typeface="VT323"/>
                <a:cs typeface="VT323"/>
                <a:sym typeface="VT323"/>
              </a:rPr>
              <a:t>EXPECTED IMPACT</a:t>
            </a:r>
            <a:endParaRPr b="1" sz="4000" u="sng">
              <a:solidFill>
                <a:schemeClr val="lt1"/>
              </a:solidFill>
              <a:latin typeface="VT323"/>
              <a:ea typeface="VT323"/>
              <a:cs typeface="VT323"/>
              <a:sym typeface="VT323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800">
                <a:solidFill>
                  <a:schemeClr val="lt1"/>
                </a:solidFill>
                <a:latin typeface="VT323"/>
                <a:ea typeface="VT323"/>
                <a:cs typeface="VT323"/>
                <a:sym typeface="VT323"/>
              </a:rPr>
              <a:t>The system could significantly improve clinical decision-making by providing </a:t>
            </a:r>
            <a:r>
              <a:rPr b="1" lang="en-US" sz="2800">
                <a:solidFill>
                  <a:schemeClr val="lt1"/>
                </a:solidFill>
                <a:latin typeface="VT323"/>
                <a:ea typeface="VT323"/>
                <a:cs typeface="VT323"/>
                <a:sym typeface="VT323"/>
              </a:rPr>
              <a:t>earlier insights into patient deterioration</a:t>
            </a:r>
            <a:r>
              <a:rPr lang="en-US" sz="2800">
                <a:solidFill>
                  <a:schemeClr val="lt1"/>
                </a:solidFill>
                <a:latin typeface="VT323"/>
                <a:ea typeface="VT323"/>
                <a:cs typeface="VT323"/>
                <a:sym typeface="VT323"/>
              </a:rPr>
              <a:t>.</a:t>
            </a:r>
            <a:endParaRPr sz="2800">
              <a:solidFill>
                <a:schemeClr val="lt1"/>
              </a:solidFill>
              <a:latin typeface="VT323"/>
              <a:ea typeface="VT323"/>
              <a:cs typeface="VT323"/>
              <a:sym typeface="VT323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800">
                <a:solidFill>
                  <a:schemeClr val="lt1"/>
                </a:solidFill>
                <a:latin typeface="VT323"/>
                <a:ea typeface="VT323"/>
                <a:cs typeface="VT323"/>
                <a:sym typeface="VT323"/>
              </a:rPr>
              <a:t>Potential impact areas:</a:t>
            </a:r>
            <a:endParaRPr sz="2800">
              <a:solidFill>
                <a:schemeClr val="lt1"/>
              </a:solidFill>
              <a:latin typeface="VT323"/>
              <a:ea typeface="VT323"/>
              <a:cs typeface="VT323"/>
              <a:sym typeface="VT323"/>
            </a:endParaRPr>
          </a:p>
          <a:p>
            <a:pPr indent="-4064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VT323"/>
              <a:buChar char="●"/>
            </a:pPr>
            <a:r>
              <a:rPr lang="en-US" sz="2800">
                <a:solidFill>
                  <a:schemeClr val="lt1"/>
                </a:solidFill>
                <a:latin typeface="VT323"/>
                <a:ea typeface="VT323"/>
                <a:cs typeface="VT323"/>
                <a:sym typeface="VT323"/>
              </a:rPr>
              <a:t>ICU monitoring</a:t>
            </a:r>
            <a:endParaRPr sz="2800">
              <a:solidFill>
                <a:schemeClr val="lt1"/>
              </a:solidFill>
              <a:latin typeface="VT323"/>
              <a:ea typeface="VT323"/>
              <a:cs typeface="VT323"/>
              <a:sym typeface="VT323"/>
            </a:endParaRPr>
          </a:p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VT323"/>
              <a:buChar char="●"/>
            </a:pPr>
            <a:r>
              <a:rPr lang="en-US" sz="2800">
                <a:solidFill>
                  <a:schemeClr val="lt1"/>
                </a:solidFill>
                <a:latin typeface="VT323"/>
                <a:ea typeface="VT323"/>
                <a:cs typeface="VT323"/>
                <a:sym typeface="VT323"/>
              </a:rPr>
              <a:t>emergency department triage</a:t>
            </a:r>
            <a:endParaRPr sz="2800">
              <a:solidFill>
                <a:schemeClr val="lt1"/>
              </a:solidFill>
              <a:latin typeface="VT323"/>
              <a:ea typeface="VT323"/>
              <a:cs typeface="VT323"/>
              <a:sym typeface="VT323"/>
            </a:endParaRPr>
          </a:p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VT323"/>
              <a:buChar char="●"/>
            </a:pPr>
            <a:r>
              <a:rPr lang="en-US" sz="2800">
                <a:solidFill>
                  <a:schemeClr val="lt1"/>
                </a:solidFill>
                <a:latin typeface="VT323"/>
                <a:ea typeface="VT323"/>
                <a:cs typeface="VT323"/>
                <a:sym typeface="VT323"/>
              </a:rPr>
              <a:t>remote patient monitoring</a:t>
            </a:r>
            <a:endParaRPr sz="5389">
              <a:solidFill>
                <a:schemeClr val="lt1"/>
              </a:solidFill>
              <a:latin typeface="VT323"/>
              <a:ea typeface="VT323"/>
              <a:cs typeface="VT323"/>
              <a:sym typeface="VT323"/>
            </a:endParaRPr>
          </a:p>
        </p:txBody>
      </p:sp>
      <p:graphicFrame>
        <p:nvGraphicFramePr>
          <p:cNvPr id="176" name="Google Shape;176;p18"/>
          <p:cNvGraphicFramePr/>
          <p:nvPr/>
        </p:nvGraphicFramePr>
        <p:xfrm>
          <a:off x="8424875" y="63480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{E3AD02C6-73F4-4E86-B738-824DFAA2CBF0}</a:tableStyleId>
              </a:tblPr>
              <a:tblGrid>
                <a:gridCol w="4837600"/>
                <a:gridCol w="48376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900">
                          <a:solidFill>
                            <a:schemeClr val="lt1"/>
                          </a:solidFill>
                          <a:latin typeface="VT323"/>
                          <a:ea typeface="VT323"/>
                          <a:cs typeface="VT323"/>
                          <a:sym typeface="VT323"/>
                        </a:rPr>
                        <a:t>Benefit</a:t>
                      </a:r>
                      <a:endParaRPr b="1" sz="1900">
                        <a:solidFill>
                          <a:schemeClr val="lt1"/>
                        </a:solidFill>
                        <a:latin typeface="VT323"/>
                        <a:ea typeface="VT323"/>
                        <a:cs typeface="VT323"/>
                        <a:sym typeface="VT323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900">
                          <a:solidFill>
                            <a:schemeClr val="lt1"/>
                          </a:solidFill>
                          <a:latin typeface="VT323"/>
                          <a:ea typeface="VT323"/>
                          <a:cs typeface="VT323"/>
                          <a:sym typeface="VT323"/>
                        </a:rPr>
                        <a:t>Explanation</a:t>
                      </a:r>
                      <a:endParaRPr b="1" sz="1900">
                        <a:solidFill>
                          <a:schemeClr val="lt1"/>
                        </a:solidFill>
                        <a:latin typeface="VT323"/>
                        <a:ea typeface="VT323"/>
                        <a:cs typeface="VT323"/>
                        <a:sym typeface="VT323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solidFill>
                            <a:schemeClr val="lt1"/>
                          </a:solidFill>
                          <a:latin typeface="VT323"/>
                          <a:ea typeface="VT323"/>
                          <a:cs typeface="VT323"/>
                          <a:sym typeface="VT323"/>
                        </a:rPr>
                        <a:t>Speed</a:t>
                      </a:r>
                      <a:endParaRPr sz="2200">
                        <a:solidFill>
                          <a:schemeClr val="lt1"/>
                        </a:solidFill>
                        <a:latin typeface="VT323"/>
                        <a:ea typeface="VT323"/>
                        <a:cs typeface="VT323"/>
                        <a:sym typeface="VT323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solidFill>
                            <a:schemeClr val="lt1"/>
                          </a:solidFill>
                          <a:latin typeface="VT323"/>
                          <a:ea typeface="VT323"/>
                          <a:cs typeface="VT323"/>
                          <a:sym typeface="VT323"/>
                        </a:rPr>
                        <a:t>Automated real-time risk predictions</a:t>
                      </a:r>
                      <a:endParaRPr sz="2200">
                        <a:solidFill>
                          <a:schemeClr val="lt1"/>
                        </a:solidFill>
                        <a:latin typeface="VT323"/>
                        <a:ea typeface="VT323"/>
                        <a:cs typeface="VT323"/>
                        <a:sym typeface="VT323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solidFill>
                            <a:schemeClr val="lt1"/>
                          </a:solidFill>
                          <a:latin typeface="VT323"/>
                          <a:ea typeface="VT323"/>
                          <a:cs typeface="VT323"/>
                          <a:sym typeface="VT323"/>
                        </a:rPr>
                        <a:t>Accuracy</a:t>
                      </a:r>
                      <a:endParaRPr sz="2200">
                        <a:solidFill>
                          <a:schemeClr val="lt1"/>
                        </a:solidFill>
                        <a:latin typeface="VT323"/>
                        <a:ea typeface="VT323"/>
                        <a:cs typeface="VT323"/>
                        <a:sym typeface="VT323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solidFill>
                            <a:schemeClr val="lt1"/>
                          </a:solidFill>
                          <a:latin typeface="VT323"/>
                          <a:ea typeface="VT323"/>
                          <a:cs typeface="VT323"/>
                          <a:sym typeface="VT323"/>
                        </a:rPr>
                        <a:t>Machine learning detects complex patterns</a:t>
                      </a:r>
                      <a:endParaRPr sz="2200">
                        <a:solidFill>
                          <a:schemeClr val="lt1"/>
                        </a:solidFill>
                        <a:latin typeface="VT323"/>
                        <a:ea typeface="VT323"/>
                        <a:cs typeface="VT323"/>
                        <a:sym typeface="VT323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solidFill>
                            <a:schemeClr val="lt1"/>
                          </a:solidFill>
                          <a:latin typeface="VT323"/>
                          <a:ea typeface="VT323"/>
                          <a:cs typeface="VT323"/>
                          <a:sym typeface="VT323"/>
                        </a:rPr>
                        <a:t>Simplicity</a:t>
                      </a:r>
                      <a:endParaRPr sz="2200">
                        <a:solidFill>
                          <a:schemeClr val="lt1"/>
                        </a:solidFill>
                        <a:latin typeface="VT323"/>
                        <a:ea typeface="VT323"/>
                        <a:cs typeface="VT323"/>
                        <a:sym typeface="VT323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solidFill>
                            <a:schemeClr val="lt1"/>
                          </a:solidFill>
                          <a:latin typeface="VT323"/>
                          <a:ea typeface="VT323"/>
                          <a:cs typeface="VT323"/>
                          <a:sym typeface="VT323"/>
                        </a:rPr>
                        <a:t>Easy-to-use clinical dashboard</a:t>
                      </a:r>
                      <a:endParaRPr sz="2200">
                        <a:solidFill>
                          <a:schemeClr val="lt1"/>
                        </a:solidFill>
                        <a:latin typeface="VT323"/>
                        <a:ea typeface="VT323"/>
                        <a:cs typeface="VT323"/>
                        <a:sym typeface="VT323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solidFill>
                            <a:schemeClr val="lt1"/>
                          </a:solidFill>
                          <a:latin typeface="VT323"/>
                          <a:ea typeface="VT323"/>
                          <a:cs typeface="VT323"/>
                          <a:sym typeface="VT323"/>
                        </a:rPr>
                        <a:t>Accessibility</a:t>
                      </a:r>
                      <a:endParaRPr sz="2200">
                        <a:solidFill>
                          <a:schemeClr val="lt1"/>
                        </a:solidFill>
                        <a:latin typeface="VT323"/>
                        <a:ea typeface="VT323"/>
                        <a:cs typeface="VT323"/>
                        <a:sym typeface="VT323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solidFill>
                            <a:schemeClr val="lt1"/>
                          </a:solidFill>
                          <a:latin typeface="VT323"/>
                          <a:ea typeface="VT323"/>
                          <a:cs typeface="VT323"/>
                          <a:sym typeface="VT323"/>
                        </a:rPr>
                        <a:t>Scalable cloud-based deployment</a:t>
                      </a:r>
                      <a:endParaRPr sz="2200">
                        <a:solidFill>
                          <a:schemeClr val="lt1"/>
                        </a:solidFill>
                        <a:latin typeface="VT323"/>
                        <a:ea typeface="VT323"/>
                        <a:cs typeface="VT323"/>
                        <a:sym typeface="VT323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solidFill>
                            <a:schemeClr val="lt1"/>
                          </a:solidFill>
                          <a:latin typeface="VT323"/>
                          <a:ea typeface="VT323"/>
                          <a:cs typeface="VT323"/>
                          <a:sym typeface="VT323"/>
                        </a:rPr>
                        <a:t>Early Intervention</a:t>
                      </a:r>
                      <a:endParaRPr sz="2200">
                        <a:solidFill>
                          <a:schemeClr val="lt1"/>
                        </a:solidFill>
                        <a:latin typeface="VT323"/>
                        <a:ea typeface="VT323"/>
                        <a:cs typeface="VT323"/>
                        <a:sym typeface="VT323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solidFill>
                            <a:schemeClr val="lt1"/>
                          </a:solidFill>
                          <a:latin typeface="VT323"/>
                          <a:ea typeface="VT323"/>
                          <a:cs typeface="VT323"/>
                          <a:sym typeface="VT323"/>
                        </a:rPr>
                        <a:t>Enables preventive treatment</a:t>
                      </a:r>
                      <a:endParaRPr sz="2200">
                        <a:solidFill>
                          <a:schemeClr val="lt1"/>
                        </a:solidFill>
                        <a:latin typeface="VT323"/>
                        <a:ea typeface="VT323"/>
                        <a:cs typeface="VT323"/>
                        <a:sym typeface="VT323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77" name="Google Shape;177;p18"/>
          <p:cNvSpPr txBox="1"/>
          <p:nvPr/>
        </p:nvSpPr>
        <p:spPr>
          <a:xfrm>
            <a:off x="313175" y="6063625"/>
            <a:ext cx="7179900" cy="417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3600" u="sng">
                <a:solidFill>
                  <a:schemeClr val="lt1"/>
                </a:solidFill>
                <a:latin typeface="VT323"/>
                <a:ea typeface="VT323"/>
                <a:cs typeface="VT323"/>
                <a:sym typeface="VT323"/>
              </a:rPr>
              <a:t>SHORT-TERM VS LONG-TERM VALUE</a:t>
            </a:r>
            <a:endParaRPr b="1" sz="3600" u="sng">
              <a:solidFill>
                <a:schemeClr val="lt1"/>
              </a:solidFill>
              <a:latin typeface="VT323"/>
              <a:ea typeface="VT323"/>
              <a:cs typeface="VT323"/>
              <a:sym typeface="VT323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400">
                <a:solidFill>
                  <a:schemeClr val="lt1"/>
                </a:solidFill>
                <a:latin typeface="VT323"/>
                <a:ea typeface="VT323"/>
                <a:cs typeface="VT323"/>
                <a:sym typeface="VT323"/>
              </a:rPr>
              <a:t>Short Term</a:t>
            </a:r>
            <a:endParaRPr b="1" sz="2400">
              <a:solidFill>
                <a:schemeClr val="lt1"/>
              </a:solidFill>
              <a:latin typeface="VT323"/>
              <a:ea typeface="VT323"/>
              <a:cs typeface="VT323"/>
              <a:sym typeface="VT323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VT323"/>
              <a:buChar char="●"/>
            </a:pPr>
            <a:r>
              <a:rPr lang="en-US" sz="2400">
                <a:solidFill>
                  <a:schemeClr val="lt1"/>
                </a:solidFill>
                <a:latin typeface="VT323"/>
                <a:ea typeface="VT323"/>
                <a:cs typeface="VT323"/>
                <a:sym typeface="VT323"/>
              </a:rPr>
              <a:t>Prototype demonstrating predictive monitoring</a:t>
            </a:r>
            <a:endParaRPr sz="2400">
              <a:solidFill>
                <a:schemeClr val="lt1"/>
              </a:solidFill>
              <a:latin typeface="VT323"/>
              <a:ea typeface="VT323"/>
              <a:cs typeface="VT323"/>
              <a:sym typeface="VT323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VT323"/>
              <a:buChar char="●"/>
            </a:pPr>
            <a:r>
              <a:rPr lang="en-US" sz="2400">
                <a:solidFill>
                  <a:schemeClr val="lt1"/>
                </a:solidFill>
                <a:latin typeface="VT323"/>
                <a:ea typeface="VT323"/>
                <a:cs typeface="VT323"/>
                <a:sym typeface="VT323"/>
              </a:rPr>
              <a:t>Decision support for clinicians</a:t>
            </a:r>
            <a:endParaRPr sz="2400">
              <a:solidFill>
                <a:schemeClr val="lt1"/>
              </a:solidFill>
              <a:latin typeface="VT323"/>
              <a:ea typeface="VT323"/>
              <a:cs typeface="VT323"/>
              <a:sym typeface="VT323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400">
                <a:solidFill>
                  <a:schemeClr val="lt1"/>
                </a:solidFill>
                <a:latin typeface="VT323"/>
                <a:ea typeface="VT323"/>
                <a:cs typeface="VT323"/>
                <a:sym typeface="VT323"/>
              </a:rPr>
              <a:t>Long Term</a:t>
            </a:r>
            <a:endParaRPr b="1" sz="2400">
              <a:solidFill>
                <a:schemeClr val="lt1"/>
              </a:solidFill>
              <a:latin typeface="VT323"/>
              <a:ea typeface="VT323"/>
              <a:cs typeface="VT323"/>
              <a:sym typeface="VT323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VT323"/>
              <a:buChar char="●"/>
            </a:pPr>
            <a:r>
              <a:rPr lang="en-US" sz="2400">
                <a:solidFill>
                  <a:schemeClr val="lt1"/>
                </a:solidFill>
                <a:latin typeface="VT323"/>
                <a:ea typeface="VT323"/>
                <a:cs typeface="VT323"/>
                <a:sym typeface="VT323"/>
              </a:rPr>
              <a:t>Integration into hospital monitoring systems</a:t>
            </a:r>
            <a:endParaRPr sz="2400">
              <a:solidFill>
                <a:schemeClr val="lt1"/>
              </a:solidFill>
              <a:latin typeface="VT323"/>
              <a:ea typeface="VT323"/>
              <a:cs typeface="VT323"/>
              <a:sym typeface="VT323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VT323"/>
              <a:buChar char="●"/>
            </a:pPr>
            <a:r>
              <a:rPr lang="en-US" sz="2400">
                <a:solidFill>
                  <a:schemeClr val="lt1"/>
                </a:solidFill>
                <a:latin typeface="VT323"/>
                <a:ea typeface="VT323"/>
                <a:cs typeface="VT323"/>
                <a:sym typeface="VT323"/>
              </a:rPr>
              <a:t>Deployment in ICU and emergency departments</a:t>
            </a:r>
            <a:endParaRPr sz="2400">
              <a:solidFill>
                <a:schemeClr val="lt1"/>
              </a:solidFill>
              <a:latin typeface="VT323"/>
              <a:ea typeface="VT323"/>
              <a:cs typeface="VT323"/>
              <a:sym typeface="VT323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VT323"/>
              <a:buChar char="●"/>
            </a:pPr>
            <a:r>
              <a:rPr lang="en-US" sz="2400">
                <a:solidFill>
                  <a:schemeClr val="lt1"/>
                </a:solidFill>
                <a:latin typeface="VT323"/>
                <a:ea typeface="VT323"/>
                <a:cs typeface="VT323"/>
                <a:sym typeface="VT323"/>
              </a:rPr>
              <a:t>Large-scale predictive healthcare systems</a:t>
            </a:r>
            <a:endParaRPr b="1" sz="3600">
              <a:solidFill>
                <a:schemeClr val="lt1"/>
              </a:solidFill>
              <a:latin typeface="VT323"/>
              <a:ea typeface="VT323"/>
              <a:cs typeface="VT323"/>
              <a:sym typeface="VT323"/>
            </a:endParaRPr>
          </a:p>
        </p:txBody>
      </p:sp>
      <p:sp>
        <p:nvSpPr>
          <p:cNvPr id="178" name="Google Shape;178;p18"/>
          <p:cNvSpPr txBox="1"/>
          <p:nvPr/>
        </p:nvSpPr>
        <p:spPr>
          <a:xfrm>
            <a:off x="9606475" y="1678725"/>
            <a:ext cx="8493600" cy="371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4400" u="sng">
                <a:solidFill>
                  <a:schemeClr val="lt1"/>
                </a:solidFill>
                <a:latin typeface="VT323"/>
                <a:ea typeface="VT323"/>
                <a:cs typeface="VT323"/>
                <a:sym typeface="VT323"/>
              </a:rPr>
              <a:t>MEASURABLE IMPROVEMENTS</a:t>
            </a:r>
            <a:endParaRPr b="1" sz="4400" u="sng">
              <a:solidFill>
                <a:schemeClr val="lt1"/>
              </a:solidFill>
              <a:latin typeface="VT323"/>
              <a:ea typeface="VT323"/>
              <a:cs typeface="VT323"/>
              <a:sym typeface="VT323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200">
                <a:solidFill>
                  <a:schemeClr val="lt1"/>
                </a:solidFill>
                <a:latin typeface="VT323"/>
                <a:ea typeface="VT323"/>
                <a:cs typeface="VT323"/>
                <a:sym typeface="VT323"/>
              </a:rPr>
              <a:t>Potential measurable improvements include:</a:t>
            </a:r>
            <a:endParaRPr sz="3200">
              <a:solidFill>
                <a:schemeClr val="lt1"/>
              </a:solidFill>
              <a:latin typeface="VT323"/>
              <a:ea typeface="VT323"/>
              <a:cs typeface="VT323"/>
              <a:sym typeface="VT323"/>
            </a:endParaRPr>
          </a:p>
          <a:p>
            <a:pPr indent="-431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VT323"/>
              <a:buChar char="●"/>
            </a:pPr>
            <a:r>
              <a:rPr lang="en-US" sz="3200">
                <a:solidFill>
                  <a:schemeClr val="lt1"/>
                </a:solidFill>
                <a:latin typeface="VT323"/>
                <a:ea typeface="VT323"/>
                <a:cs typeface="VT323"/>
                <a:sym typeface="VT323"/>
              </a:rPr>
              <a:t>earlier detection of deterioration</a:t>
            </a:r>
            <a:endParaRPr sz="3200">
              <a:solidFill>
                <a:schemeClr val="lt1"/>
              </a:solidFill>
              <a:latin typeface="VT323"/>
              <a:ea typeface="VT323"/>
              <a:cs typeface="VT323"/>
              <a:sym typeface="VT323"/>
            </a:endParaRPr>
          </a:p>
          <a:p>
            <a:pPr indent="-431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VT323"/>
              <a:buChar char="●"/>
            </a:pPr>
            <a:r>
              <a:rPr lang="en-US" sz="3200">
                <a:solidFill>
                  <a:schemeClr val="lt1"/>
                </a:solidFill>
                <a:latin typeface="VT323"/>
                <a:ea typeface="VT323"/>
                <a:cs typeface="VT323"/>
                <a:sym typeface="VT323"/>
              </a:rPr>
              <a:t>reduced ICU mortality</a:t>
            </a:r>
            <a:endParaRPr sz="3200">
              <a:solidFill>
                <a:schemeClr val="lt1"/>
              </a:solidFill>
              <a:latin typeface="VT323"/>
              <a:ea typeface="VT323"/>
              <a:cs typeface="VT323"/>
              <a:sym typeface="VT323"/>
            </a:endParaRPr>
          </a:p>
          <a:p>
            <a:pPr indent="-431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VT323"/>
              <a:buChar char="●"/>
            </a:pPr>
            <a:r>
              <a:rPr lang="en-US" sz="3200">
                <a:solidFill>
                  <a:schemeClr val="lt1"/>
                </a:solidFill>
                <a:latin typeface="VT323"/>
                <a:ea typeface="VT323"/>
                <a:cs typeface="VT323"/>
                <a:sym typeface="VT323"/>
              </a:rPr>
              <a:t>reduced emergency response time</a:t>
            </a:r>
            <a:endParaRPr sz="3200">
              <a:solidFill>
                <a:schemeClr val="lt1"/>
              </a:solidFill>
              <a:latin typeface="VT323"/>
              <a:ea typeface="VT323"/>
              <a:cs typeface="VT323"/>
              <a:sym typeface="VT323"/>
            </a:endParaRPr>
          </a:p>
          <a:p>
            <a:pPr indent="-431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VT323"/>
              <a:buChar char="●"/>
            </a:pPr>
            <a:r>
              <a:rPr lang="en-US" sz="3200">
                <a:solidFill>
                  <a:schemeClr val="lt1"/>
                </a:solidFill>
                <a:latin typeface="VT323"/>
                <a:ea typeface="VT323"/>
                <a:cs typeface="VT323"/>
                <a:sym typeface="VT323"/>
              </a:rPr>
              <a:t>improved clinician decision support</a:t>
            </a:r>
            <a:endParaRPr sz="5300">
              <a:solidFill>
                <a:schemeClr val="lt1"/>
              </a:solidFill>
              <a:latin typeface="VT323"/>
              <a:ea typeface="VT323"/>
              <a:cs typeface="VT323"/>
              <a:sym typeface="VT323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9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84" name="Google Shape;184;p19"/>
          <p:cNvSpPr txBox="1"/>
          <p:nvPr/>
        </p:nvSpPr>
        <p:spPr>
          <a:xfrm>
            <a:off x="1028700" y="238851"/>
            <a:ext cx="15691898" cy="12051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929" u="none" cap="none" strike="noStrike">
                <a:solidFill>
                  <a:srgbClr val="D9D9D9"/>
                </a:solidFill>
                <a:latin typeface="VT323"/>
                <a:ea typeface="VT323"/>
                <a:cs typeface="VT323"/>
                <a:sym typeface="VT323"/>
              </a:rPr>
              <a:t>FEASIBILITY &amp; VIABILITY</a:t>
            </a:r>
            <a:endParaRPr/>
          </a:p>
        </p:txBody>
      </p:sp>
      <p:sp>
        <p:nvSpPr>
          <p:cNvPr id="185" name="Google Shape;185;p19"/>
          <p:cNvSpPr txBox="1"/>
          <p:nvPr/>
        </p:nvSpPr>
        <p:spPr>
          <a:xfrm>
            <a:off x="477296" y="1977750"/>
            <a:ext cx="8205900" cy="65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None/>
            </a:pPr>
            <a:r>
              <a:rPr b="1" lang="en-US" sz="5400" u="sng">
                <a:solidFill>
                  <a:schemeClr val="lt1"/>
                </a:solidFill>
                <a:latin typeface="VT323"/>
                <a:ea typeface="VT323"/>
                <a:cs typeface="VT323"/>
                <a:sym typeface="VT323"/>
              </a:rPr>
              <a:t>TECHNICAL FEASIBILITY</a:t>
            </a:r>
            <a:endParaRPr b="1" sz="5400" u="sng">
              <a:solidFill>
                <a:schemeClr val="lt1"/>
              </a:solidFill>
              <a:latin typeface="VT323"/>
              <a:ea typeface="VT323"/>
              <a:cs typeface="VT323"/>
              <a:sym typeface="VT323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4200">
                <a:solidFill>
                  <a:schemeClr val="lt1"/>
                </a:solidFill>
                <a:latin typeface="VT323"/>
                <a:ea typeface="VT323"/>
                <a:cs typeface="VT323"/>
                <a:sym typeface="VT323"/>
              </a:rPr>
              <a:t>The system is technically feasible due to:</a:t>
            </a:r>
            <a:endParaRPr sz="4200">
              <a:solidFill>
                <a:schemeClr val="lt1"/>
              </a:solidFill>
              <a:latin typeface="VT323"/>
              <a:ea typeface="VT323"/>
              <a:cs typeface="VT323"/>
              <a:sym typeface="VT323"/>
            </a:endParaRPr>
          </a:p>
          <a:p>
            <a:pPr indent="-4953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VT323"/>
              <a:buChar char="●"/>
            </a:pPr>
            <a:r>
              <a:rPr lang="en-US" sz="4200">
                <a:solidFill>
                  <a:schemeClr val="lt1"/>
                </a:solidFill>
                <a:latin typeface="VT323"/>
                <a:ea typeface="VT323"/>
                <a:cs typeface="VT323"/>
                <a:sym typeface="VT323"/>
              </a:rPr>
              <a:t>publicly available clinical datasets</a:t>
            </a:r>
            <a:endParaRPr sz="4200">
              <a:solidFill>
                <a:schemeClr val="lt1"/>
              </a:solidFill>
              <a:latin typeface="VT323"/>
              <a:ea typeface="VT323"/>
              <a:cs typeface="VT323"/>
              <a:sym typeface="VT323"/>
            </a:endParaRPr>
          </a:p>
          <a:p>
            <a:pPr indent="-495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VT323"/>
              <a:buChar char="●"/>
            </a:pPr>
            <a:r>
              <a:rPr lang="en-US" sz="4200">
                <a:solidFill>
                  <a:schemeClr val="lt1"/>
                </a:solidFill>
                <a:latin typeface="VT323"/>
                <a:ea typeface="VT323"/>
                <a:cs typeface="VT323"/>
                <a:sym typeface="VT323"/>
              </a:rPr>
              <a:t>mature machine learning frameworks</a:t>
            </a:r>
            <a:endParaRPr sz="4200">
              <a:solidFill>
                <a:schemeClr val="lt1"/>
              </a:solidFill>
              <a:latin typeface="VT323"/>
              <a:ea typeface="VT323"/>
              <a:cs typeface="VT323"/>
              <a:sym typeface="VT323"/>
            </a:endParaRPr>
          </a:p>
          <a:p>
            <a:pPr indent="-495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VT323"/>
              <a:buChar char="●"/>
            </a:pPr>
            <a:r>
              <a:rPr lang="en-US" sz="4200">
                <a:solidFill>
                  <a:schemeClr val="lt1"/>
                </a:solidFill>
                <a:latin typeface="VT323"/>
                <a:ea typeface="VT323"/>
                <a:cs typeface="VT323"/>
                <a:sym typeface="VT323"/>
              </a:rPr>
              <a:t>scalable cloud infrastructure</a:t>
            </a:r>
            <a:endParaRPr sz="4200">
              <a:solidFill>
                <a:schemeClr val="lt1"/>
              </a:solidFill>
              <a:latin typeface="VT323"/>
              <a:ea typeface="VT323"/>
              <a:cs typeface="VT323"/>
              <a:sym typeface="VT323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4200">
                <a:solidFill>
                  <a:schemeClr val="lt1"/>
                </a:solidFill>
                <a:latin typeface="VT323"/>
                <a:ea typeface="VT323"/>
                <a:cs typeface="VT323"/>
                <a:sym typeface="VT323"/>
              </a:rPr>
              <a:t>A prototype can be built using the </a:t>
            </a:r>
            <a:r>
              <a:rPr b="1" lang="en-US" sz="4200">
                <a:solidFill>
                  <a:schemeClr val="lt1"/>
                </a:solidFill>
                <a:latin typeface="VT323"/>
                <a:ea typeface="VT323"/>
                <a:cs typeface="VT323"/>
                <a:sym typeface="VT323"/>
              </a:rPr>
              <a:t>MIMIC-IV demo dataset</a:t>
            </a:r>
            <a:r>
              <a:rPr lang="en-US" sz="4200">
                <a:solidFill>
                  <a:schemeClr val="lt1"/>
                </a:solidFill>
                <a:latin typeface="VT323"/>
                <a:ea typeface="VT323"/>
                <a:cs typeface="VT323"/>
                <a:sym typeface="VT323"/>
              </a:rPr>
              <a:t>.</a:t>
            </a:r>
            <a:endParaRPr i="0" sz="6789" u="none" cap="none" strike="noStrike">
              <a:solidFill>
                <a:schemeClr val="lt1"/>
              </a:solidFill>
              <a:latin typeface="VT323"/>
              <a:ea typeface="VT323"/>
              <a:cs typeface="VT323"/>
              <a:sym typeface="VT323"/>
            </a:endParaRPr>
          </a:p>
        </p:txBody>
      </p:sp>
      <p:sp>
        <p:nvSpPr>
          <p:cNvPr id="186" name="Google Shape;186;p19"/>
          <p:cNvSpPr txBox="1"/>
          <p:nvPr/>
        </p:nvSpPr>
        <p:spPr>
          <a:xfrm>
            <a:off x="9078925" y="1808700"/>
            <a:ext cx="8936400" cy="751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5400" u="sng">
                <a:solidFill>
                  <a:schemeClr val="lt1"/>
                </a:solidFill>
                <a:latin typeface="VT323"/>
                <a:ea typeface="VT323"/>
                <a:cs typeface="VT323"/>
                <a:sym typeface="VT323"/>
              </a:rPr>
              <a:t>SCALABILITY &amp; FUTURE ENHANCEMENTS</a:t>
            </a:r>
            <a:endParaRPr b="1" sz="5400" u="sng">
              <a:solidFill>
                <a:schemeClr val="lt1"/>
              </a:solidFill>
              <a:latin typeface="VT323"/>
              <a:ea typeface="VT323"/>
              <a:cs typeface="VT323"/>
              <a:sym typeface="VT323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200">
                <a:solidFill>
                  <a:schemeClr val="lt1"/>
                </a:solidFill>
                <a:latin typeface="VT323"/>
                <a:ea typeface="VT323"/>
                <a:cs typeface="VT323"/>
                <a:sym typeface="VT323"/>
              </a:rPr>
              <a:t>Future extensions may include:</a:t>
            </a:r>
            <a:endParaRPr sz="4200">
              <a:solidFill>
                <a:schemeClr val="lt1"/>
              </a:solidFill>
              <a:latin typeface="VT323"/>
              <a:ea typeface="VT323"/>
              <a:cs typeface="VT323"/>
              <a:sym typeface="VT323"/>
            </a:endParaRPr>
          </a:p>
          <a:p>
            <a:pPr indent="-4953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4200"/>
              <a:buChar char="●"/>
            </a:pPr>
            <a:r>
              <a:rPr lang="en-US" sz="4200">
                <a:solidFill>
                  <a:schemeClr val="lt1"/>
                </a:solidFill>
                <a:latin typeface="VT323"/>
                <a:ea typeface="VT323"/>
                <a:cs typeface="VT323"/>
                <a:sym typeface="VT323"/>
              </a:rPr>
              <a:t>training on </a:t>
            </a:r>
            <a:r>
              <a:rPr b="1" lang="en-US" sz="4200">
                <a:solidFill>
                  <a:schemeClr val="lt1"/>
                </a:solidFill>
                <a:latin typeface="VT323"/>
                <a:ea typeface="VT323"/>
                <a:cs typeface="VT323"/>
                <a:sym typeface="VT323"/>
              </a:rPr>
              <a:t>full MIMIC-IV dataset</a:t>
            </a:r>
            <a:endParaRPr b="1" sz="4200">
              <a:solidFill>
                <a:schemeClr val="lt1"/>
              </a:solidFill>
              <a:latin typeface="VT323"/>
              <a:ea typeface="VT323"/>
              <a:cs typeface="VT323"/>
              <a:sym typeface="VT323"/>
            </a:endParaRPr>
          </a:p>
          <a:p>
            <a:pPr indent="-495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Char char="●"/>
            </a:pPr>
            <a:r>
              <a:rPr lang="en-US" sz="4200">
                <a:solidFill>
                  <a:schemeClr val="lt1"/>
                </a:solidFill>
                <a:latin typeface="VT323"/>
                <a:ea typeface="VT323"/>
                <a:cs typeface="VT323"/>
                <a:sym typeface="VT323"/>
              </a:rPr>
              <a:t>deep learning models (LSTM / Transformers)</a:t>
            </a:r>
            <a:endParaRPr sz="4200">
              <a:solidFill>
                <a:schemeClr val="lt1"/>
              </a:solidFill>
              <a:latin typeface="VT323"/>
              <a:ea typeface="VT323"/>
              <a:cs typeface="VT323"/>
              <a:sym typeface="VT323"/>
            </a:endParaRPr>
          </a:p>
          <a:p>
            <a:pPr indent="-495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VT323"/>
              <a:buChar char="●"/>
            </a:pPr>
            <a:r>
              <a:rPr lang="en-US" sz="4200">
                <a:solidFill>
                  <a:schemeClr val="lt1"/>
                </a:solidFill>
                <a:latin typeface="VT323"/>
                <a:ea typeface="VT323"/>
                <a:cs typeface="VT323"/>
                <a:sym typeface="VT323"/>
              </a:rPr>
              <a:t>real-time hospital data integration</a:t>
            </a:r>
            <a:endParaRPr sz="4200">
              <a:solidFill>
                <a:schemeClr val="lt1"/>
              </a:solidFill>
              <a:latin typeface="VT323"/>
              <a:ea typeface="VT323"/>
              <a:cs typeface="VT323"/>
              <a:sym typeface="VT323"/>
            </a:endParaRPr>
          </a:p>
          <a:p>
            <a:pPr indent="-495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VT323"/>
              <a:buChar char="●"/>
            </a:pPr>
            <a:r>
              <a:rPr lang="en-US" sz="4200">
                <a:solidFill>
                  <a:schemeClr val="lt1"/>
                </a:solidFill>
                <a:latin typeface="VT323"/>
                <a:ea typeface="VT323"/>
                <a:cs typeface="VT323"/>
                <a:sym typeface="VT323"/>
              </a:rPr>
              <a:t>wearable device monitoring</a:t>
            </a:r>
            <a:endParaRPr sz="4200">
              <a:solidFill>
                <a:schemeClr val="lt1"/>
              </a:solidFill>
              <a:latin typeface="VT323"/>
              <a:ea typeface="VT323"/>
              <a:cs typeface="VT323"/>
              <a:sym typeface="VT323"/>
            </a:endParaRPr>
          </a:p>
          <a:p>
            <a:pPr indent="-495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VT323"/>
              <a:buChar char="●"/>
            </a:pPr>
            <a:r>
              <a:rPr lang="en-US" sz="4200">
                <a:solidFill>
                  <a:schemeClr val="lt1"/>
                </a:solidFill>
                <a:latin typeface="VT323"/>
                <a:ea typeface="VT323"/>
                <a:cs typeface="VT323"/>
                <a:sym typeface="VT323"/>
              </a:rPr>
              <a:t>personalized patient risk modeling</a:t>
            </a:r>
            <a:endParaRPr sz="6300">
              <a:solidFill>
                <a:schemeClr val="dk1"/>
              </a:solidFill>
              <a:latin typeface="VT323"/>
              <a:ea typeface="VT323"/>
              <a:cs typeface="VT323"/>
              <a:sym typeface="VT323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20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92" name="Google Shape;192;p20"/>
          <p:cNvGrpSpPr/>
          <p:nvPr/>
        </p:nvGrpSpPr>
        <p:grpSpPr>
          <a:xfrm>
            <a:off x="1147325" y="4326800"/>
            <a:ext cx="15993281" cy="482532"/>
            <a:chOff x="0" y="-66687"/>
            <a:chExt cx="21324375" cy="643376"/>
          </a:xfrm>
        </p:grpSpPr>
        <p:sp>
          <p:nvSpPr>
            <p:cNvPr id="193" name="Google Shape;193;p20"/>
            <p:cNvSpPr txBox="1"/>
            <p:nvPr/>
          </p:nvSpPr>
          <p:spPr>
            <a:xfrm>
              <a:off x="0" y="-66687"/>
              <a:ext cx="3752700" cy="634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090">
                  <a:solidFill>
                    <a:srgbClr val="D9D9D9"/>
                  </a:solidFill>
                  <a:latin typeface="VT323"/>
                  <a:ea typeface="VT323"/>
                  <a:cs typeface="VT323"/>
                  <a:sym typeface="VT323"/>
                </a:rPr>
                <a:t>RAVIKANT GUPTA</a:t>
              </a:r>
              <a:endParaRPr/>
            </a:p>
          </p:txBody>
        </p:sp>
        <p:sp>
          <p:nvSpPr>
            <p:cNvPr id="194" name="Google Shape;194;p20"/>
            <p:cNvSpPr txBox="1"/>
            <p:nvPr/>
          </p:nvSpPr>
          <p:spPr>
            <a:xfrm>
              <a:off x="2778199" y="-66675"/>
              <a:ext cx="5380800" cy="634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090">
                  <a:solidFill>
                    <a:srgbClr val="D9D9D9"/>
                  </a:solidFill>
                  <a:latin typeface="VT323"/>
                  <a:ea typeface="VT323"/>
                  <a:cs typeface="VT323"/>
                  <a:sym typeface="VT323"/>
                </a:rPr>
                <a:t>NIT KKR</a:t>
              </a:r>
              <a:endParaRPr/>
            </a:p>
          </p:txBody>
        </p:sp>
        <p:sp>
          <p:nvSpPr>
            <p:cNvPr id="195" name="Google Shape;195;p20"/>
            <p:cNvSpPr txBox="1"/>
            <p:nvPr/>
          </p:nvSpPr>
          <p:spPr>
            <a:xfrm>
              <a:off x="8316910" y="-66675"/>
              <a:ext cx="2280300" cy="634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090">
                  <a:solidFill>
                    <a:srgbClr val="D9D9D9"/>
                  </a:solidFill>
                  <a:latin typeface="VT323"/>
                  <a:ea typeface="VT323"/>
                  <a:cs typeface="VT323"/>
                  <a:sym typeface="VT323"/>
                </a:rPr>
                <a:t>THANESAR</a:t>
              </a:r>
              <a:endParaRPr/>
            </a:p>
          </p:txBody>
        </p:sp>
        <p:sp>
          <p:nvSpPr>
            <p:cNvPr id="196" name="Google Shape;196;p20"/>
            <p:cNvSpPr txBox="1"/>
            <p:nvPr/>
          </p:nvSpPr>
          <p:spPr>
            <a:xfrm>
              <a:off x="10863353" y="-66675"/>
              <a:ext cx="5380800" cy="634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3090" u="none" cap="none" strike="noStrike">
                  <a:solidFill>
                    <a:srgbClr val="D9D9D9"/>
                  </a:solidFill>
                  <a:latin typeface="VT323"/>
                  <a:ea typeface="VT323"/>
                  <a:cs typeface="VT323"/>
                  <a:sym typeface="VT323"/>
                </a:rPr>
                <a:t>TEAM </a:t>
              </a:r>
              <a:r>
                <a:rPr lang="en-US" sz="3090">
                  <a:solidFill>
                    <a:srgbClr val="D9D9D9"/>
                  </a:solidFill>
                  <a:latin typeface="VT323"/>
                  <a:ea typeface="VT323"/>
                  <a:cs typeface="VT323"/>
                  <a:sym typeface="VT323"/>
                </a:rPr>
                <a:t>MEMBER</a:t>
              </a:r>
              <a:endParaRPr/>
            </a:p>
          </p:txBody>
        </p:sp>
        <p:sp>
          <p:nvSpPr>
            <p:cNvPr id="197" name="Google Shape;197;p20"/>
            <p:cNvSpPr txBox="1"/>
            <p:nvPr/>
          </p:nvSpPr>
          <p:spPr>
            <a:xfrm>
              <a:off x="15817875" y="-64111"/>
              <a:ext cx="5506500" cy="640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999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3123" u="none" cap="none" strike="noStrike">
                  <a:solidFill>
                    <a:srgbClr val="D9D9D9"/>
                  </a:solidFill>
                  <a:latin typeface="VT323"/>
                  <a:ea typeface="VT323"/>
                  <a:cs typeface="VT323"/>
                  <a:sym typeface="VT323"/>
                </a:rPr>
                <a:t>MALE</a:t>
              </a:r>
              <a:endParaRPr/>
            </a:p>
          </p:txBody>
        </p:sp>
      </p:grpSp>
      <p:grpSp>
        <p:nvGrpSpPr>
          <p:cNvPr id="198" name="Google Shape;198;p20"/>
          <p:cNvGrpSpPr/>
          <p:nvPr/>
        </p:nvGrpSpPr>
        <p:grpSpPr>
          <a:xfrm>
            <a:off x="1806725" y="5757594"/>
            <a:ext cx="15333881" cy="492873"/>
            <a:chOff x="879200" y="-66675"/>
            <a:chExt cx="20445175" cy="657164"/>
          </a:xfrm>
        </p:grpSpPr>
        <p:sp>
          <p:nvSpPr>
            <p:cNvPr id="199" name="Google Shape;199;p20"/>
            <p:cNvSpPr txBox="1"/>
            <p:nvPr/>
          </p:nvSpPr>
          <p:spPr>
            <a:xfrm>
              <a:off x="879200" y="-56892"/>
              <a:ext cx="2059500" cy="634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090">
                  <a:solidFill>
                    <a:srgbClr val="D9D9D9"/>
                  </a:solidFill>
                  <a:latin typeface="VT323"/>
                  <a:ea typeface="VT323"/>
                  <a:cs typeface="VT323"/>
                  <a:sym typeface="VT323"/>
                </a:rPr>
                <a:t>ANJEET</a:t>
              </a:r>
              <a:endParaRPr/>
            </a:p>
          </p:txBody>
        </p:sp>
        <p:sp>
          <p:nvSpPr>
            <p:cNvPr id="200" name="Google Shape;200;p20"/>
            <p:cNvSpPr txBox="1"/>
            <p:nvPr/>
          </p:nvSpPr>
          <p:spPr>
            <a:xfrm>
              <a:off x="2778199" y="-66675"/>
              <a:ext cx="5380800" cy="634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090">
                  <a:solidFill>
                    <a:srgbClr val="D9D9D9"/>
                  </a:solidFill>
                  <a:latin typeface="VT323"/>
                  <a:ea typeface="VT323"/>
                  <a:cs typeface="VT323"/>
                  <a:sym typeface="VT323"/>
                </a:rPr>
                <a:t>NIT KKR</a:t>
              </a:r>
              <a:endParaRPr/>
            </a:p>
          </p:txBody>
        </p:sp>
        <p:sp>
          <p:nvSpPr>
            <p:cNvPr id="201" name="Google Shape;201;p20"/>
            <p:cNvSpPr txBox="1"/>
            <p:nvPr/>
          </p:nvSpPr>
          <p:spPr>
            <a:xfrm>
              <a:off x="8316910" y="-66675"/>
              <a:ext cx="2280300" cy="634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090">
                  <a:solidFill>
                    <a:srgbClr val="D9D9D9"/>
                  </a:solidFill>
                  <a:latin typeface="VT323"/>
                  <a:ea typeface="VT323"/>
                  <a:cs typeface="VT323"/>
                  <a:sym typeface="VT323"/>
                </a:rPr>
                <a:t>THANESAR</a:t>
              </a:r>
              <a:endParaRPr/>
            </a:p>
          </p:txBody>
        </p:sp>
        <p:sp>
          <p:nvSpPr>
            <p:cNvPr id="202" name="Google Shape;202;p20"/>
            <p:cNvSpPr txBox="1"/>
            <p:nvPr/>
          </p:nvSpPr>
          <p:spPr>
            <a:xfrm>
              <a:off x="10863353" y="-66675"/>
              <a:ext cx="5380800" cy="634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3090" u="none" cap="none" strike="noStrike">
                  <a:solidFill>
                    <a:srgbClr val="D9D9D9"/>
                  </a:solidFill>
                  <a:latin typeface="VT323"/>
                  <a:ea typeface="VT323"/>
                  <a:cs typeface="VT323"/>
                  <a:sym typeface="VT323"/>
                </a:rPr>
                <a:t>TEAM </a:t>
              </a:r>
              <a:r>
                <a:rPr lang="en-US" sz="3090">
                  <a:solidFill>
                    <a:srgbClr val="D9D9D9"/>
                  </a:solidFill>
                  <a:latin typeface="VT323"/>
                  <a:ea typeface="VT323"/>
                  <a:cs typeface="VT323"/>
                  <a:sym typeface="VT323"/>
                </a:rPr>
                <a:t>MEMBER</a:t>
              </a:r>
              <a:endParaRPr/>
            </a:p>
          </p:txBody>
        </p:sp>
        <p:sp>
          <p:nvSpPr>
            <p:cNvPr id="203" name="Google Shape;203;p20"/>
            <p:cNvSpPr txBox="1"/>
            <p:nvPr/>
          </p:nvSpPr>
          <p:spPr>
            <a:xfrm>
              <a:off x="15817875" y="-64111"/>
              <a:ext cx="5506500" cy="654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3190" u="none" cap="none" strike="noStrike">
                  <a:solidFill>
                    <a:srgbClr val="D9D9D9"/>
                  </a:solidFill>
                  <a:latin typeface="VT323"/>
                  <a:ea typeface="VT323"/>
                  <a:cs typeface="VT323"/>
                  <a:sym typeface="VT323"/>
                </a:rPr>
                <a:t>MAL</a:t>
              </a:r>
              <a:r>
                <a:rPr lang="en-US" sz="3190">
                  <a:solidFill>
                    <a:srgbClr val="D9D9D9"/>
                  </a:solidFill>
                  <a:latin typeface="VT323"/>
                  <a:ea typeface="VT323"/>
                  <a:cs typeface="VT323"/>
                  <a:sym typeface="VT323"/>
                </a:rPr>
                <a:t>E</a:t>
              </a:r>
              <a:endParaRPr/>
            </a:p>
          </p:txBody>
        </p:sp>
      </p:grpSp>
      <p:grpSp>
        <p:nvGrpSpPr>
          <p:cNvPr id="204" name="Google Shape;204;p20"/>
          <p:cNvGrpSpPr/>
          <p:nvPr/>
        </p:nvGrpSpPr>
        <p:grpSpPr>
          <a:xfrm>
            <a:off x="1147325" y="2896025"/>
            <a:ext cx="15993281" cy="514439"/>
            <a:chOff x="0" y="-66675"/>
            <a:chExt cx="21324375" cy="685919"/>
          </a:xfrm>
        </p:grpSpPr>
        <p:sp>
          <p:nvSpPr>
            <p:cNvPr id="205" name="Google Shape;205;p20"/>
            <p:cNvSpPr txBox="1"/>
            <p:nvPr/>
          </p:nvSpPr>
          <p:spPr>
            <a:xfrm>
              <a:off x="0" y="-66675"/>
              <a:ext cx="3963600" cy="634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090">
                  <a:solidFill>
                    <a:srgbClr val="D9D9D9"/>
                  </a:solidFill>
                  <a:latin typeface="VT323"/>
                  <a:ea typeface="VT323"/>
                  <a:cs typeface="VT323"/>
                  <a:sym typeface="VT323"/>
                </a:rPr>
                <a:t>VIDHYADHAR</a:t>
              </a:r>
              <a:endParaRPr/>
            </a:p>
          </p:txBody>
        </p:sp>
        <p:sp>
          <p:nvSpPr>
            <p:cNvPr id="206" name="Google Shape;206;p20"/>
            <p:cNvSpPr txBox="1"/>
            <p:nvPr/>
          </p:nvSpPr>
          <p:spPr>
            <a:xfrm>
              <a:off x="2778199" y="-66675"/>
              <a:ext cx="5380800" cy="634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090">
                  <a:solidFill>
                    <a:srgbClr val="D9D9D9"/>
                  </a:solidFill>
                  <a:latin typeface="VT323"/>
                  <a:ea typeface="VT323"/>
                  <a:cs typeface="VT323"/>
                  <a:sym typeface="VT323"/>
                </a:rPr>
                <a:t>NIT KKR</a:t>
              </a:r>
              <a:endParaRPr/>
            </a:p>
          </p:txBody>
        </p:sp>
        <p:sp>
          <p:nvSpPr>
            <p:cNvPr id="207" name="Google Shape;207;p20"/>
            <p:cNvSpPr txBox="1"/>
            <p:nvPr/>
          </p:nvSpPr>
          <p:spPr>
            <a:xfrm>
              <a:off x="8316910" y="-66675"/>
              <a:ext cx="2280300" cy="634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090">
                  <a:solidFill>
                    <a:srgbClr val="D9D9D9"/>
                  </a:solidFill>
                  <a:latin typeface="VT323"/>
                  <a:ea typeface="VT323"/>
                  <a:cs typeface="VT323"/>
                  <a:sym typeface="VT323"/>
                </a:rPr>
                <a:t>THANESAR</a:t>
              </a:r>
              <a:endParaRPr/>
            </a:p>
          </p:txBody>
        </p:sp>
        <p:sp>
          <p:nvSpPr>
            <p:cNvPr id="208" name="Google Shape;208;p20"/>
            <p:cNvSpPr txBox="1"/>
            <p:nvPr/>
          </p:nvSpPr>
          <p:spPr>
            <a:xfrm>
              <a:off x="10863353" y="-66675"/>
              <a:ext cx="5380782" cy="68591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3090" u="none" cap="none" strike="noStrike">
                  <a:solidFill>
                    <a:srgbClr val="D9D9D9"/>
                  </a:solidFill>
                  <a:latin typeface="VT323"/>
                  <a:ea typeface="VT323"/>
                  <a:cs typeface="VT323"/>
                  <a:sym typeface="VT323"/>
                </a:rPr>
                <a:t>TEAM LEADER</a:t>
              </a:r>
              <a:endParaRPr/>
            </a:p>
          </p:txBody>
        </p:sp>
        <p:sp>
          <p:nvSpPr>
            <p:cNvPr id="209" name="Google Shape;209;p20"/>
            <p:cNvSpPr txBox="1"/>
            <p:nvPr/>
          </p:nvSpPr>
          <p:spPr>
            <a:xfrm>
              <a:off x="15817875" y="-64111"/>
              <a:ext cx="5506500" cy="640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999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3123" u="none" cap="none" strike="noStrike">
                  <a:solidFill>
                    <a:srgbClr val="D9D9D9"/>
                  </a:solidFill>
                  <a:latin typeface="VT323"/>
                  <a:ea typeface="VT323"/>
                  <a:cs typeface="VT323"/>
                  <a:sym typeface="VT323"/>
                </a:rPr>
                <a:t>MALE</a:t>
              </a:r>
              <a:endParaRPr/>
            </a:p>
          </p:txBody>
        </p:sp>
      </p:grpSp>
      <p:sp>
        <p:nvSpPr>
          <p:cNvPr id="210" name="Google Shape;210;p20"/>
          <p:cNvSpPr txBox="1"/>
          <p:nvPr/>
        </p:nvSpPr>
        <p:spPr>
          <a:xfrm>
            <a:off x="7016552" y="317975"/>
            <a:ext cx="4254900" cy="106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929">
                <a:solidFill>
                  <a:srgbClr val="D9D9D9"/>
                </a:solidFill>
                <a:latin typeface="VT323"/>
                <a:ea typeface="VT323"/>
                <a:cs typeface="VT323"/>
                <a:sym typeface="VT323"/>
              </a:rPr>
              <a:t>SYNAPSE_GTB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